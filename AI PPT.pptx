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14630400" cy="8229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83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97280" y="2551176"/>
            <a:ext cx="12435840" cy="17282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rgbClr val="F5EFE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194560" y="4608576"/>
            <a:ext cx="10241280" cy="205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E1E6E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rgbClr val="F5EFE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50" b="0" i="0">
                <a:solidFill>
                  <a:srgbClr val="E1E6E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rgbClr val="F5EFE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31520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34656" y="1892808"/>
            <a:ext cx="6364224" cy="5431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9151A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839191" y="7749538"/>
            <a:ext cx="1722627" cy="41147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750" b="0" i="0">
                <a:solidFill>
                  <a:srgbClr val="F5EFE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4630400" cy="8229600"/>
          </a:xfrm>
          <a:custGeom>
            <a:avLst/>
            <a:gdLst/>
            <a:ahLst/>
            <a:cxnLst/>
            <a:rect l="l" t="t" r="r" b="b"/>
            <a:pathLst>
              <a:path w="14630400" h="8229600">
                <a:moveTo>
                  <a:pt x="14630400" y="0"/>
                </a:moveTo>
                <a:lnTo>
                  <a:pt x="0" y="0"/>
                </a:lnTo>
                <a:lnTo>
                  <a:pt x="0" y="8229600"/>
                </a:lnTo>
                <a:lnTo>
                  <a:pt x="14630400" y="8229600"/>
                </a:lnTo>
                <a:lnTo>
                  <a:pt x="14630400" y="0"/>
                </a:lnTo>
                <a:close/>
              </a:path>
            </a:pathLst>
          </a:custGeom>
          <a:solidFill>
            <a:srgbClr val="09151A">
              <a:alpha val="9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839191" y="7749538"/>
            <a:ext cx="1722627" cy="41147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40958" y="803605"/>
            <a:ext cx="7362825" cy="11944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50" b="0" i="0">
                <a:solidFill>
                  <a:srgbClr val="F5EFEF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79334" y="2484882"/>
            <a:ext cx="5988684" cy="46850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0" i="0">
                <a:solidFill>
                  <a:srgbClr val="E1E6E9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974336" y="7653528"/>
            <a:ext cx="4681728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31520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0533888" y="7653528"/>
            <a:ext cx="3364992" cy="411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universe.roboflow.com/roboflow-jvuqo/football-players-detection-3zvbc/dataset/1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29600" y="-2"/>
            <a:ext cx="6400800" cy="82296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1103" y="1115313"/>
            <a:ext cx="6048375" cy="1540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6110"/>
              </a:lnSpc>
            </a:pPr>
            <a:r>
              <a:rPr sz="4850" spc="380" dirty="0"/>
              <a:t>Automated</a:t>
            </a:r>
            <a:r>
              <a:rPr sz="4850" spc="100" dirty="0"/>
              <a:t> </a:t>
            </a:r>
            <a:r>
              <a:rPr sz="4850" spc="320" dirty="0"/>
              <a:t>Football </a:t>
            </a:r>
            <a:r>
              <a:rPr sz="4850" spc="355" dirty="0"/>
              <a:t>Action</a:t>
            </a:r>
            <a:r>
              <a:rPr sz="4850" spc="100" dirty="0"/>
              <a:t> </a:t>
            </a:r>
            <a:r>
              <a:rPr sz="4850" spc="320" dirty="0"/>
              <a:t>Detection</a:t>
            </a:r>
            <a:endParaRPr sz="4850"/>
          </a:p>
        </p:txBody>
      </p:sp>
      <p:sp>
        <p:nvSpPr>
          <p:cNvPr id="4" name="object 4"/>
          <p:cNvSpPr txBox="1"/>
          <p:nvPr/>
        </p:nvSpPr>
        <p:spPr>
          <a:xfrm>
            <a:off x="851103" y="3200400"/>
            <a:ext cx="7221855" cy="37660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6685" algn="just">
              <a:lnSpc>
                <a:spcPct val="135800"/>
              </a:lnSpc>
              <a:spcBef>
                <a:spcPts val="100"/>
              </a:spcBef>
            </a:pPr>
            <a:r>
              <a:rPr sz="1900" spc="155" dirty="0">
                <a:solidFill>
                  <a:srgbClr val="E1E6E9"/>
                </a:solidFill>
                <a:latin typeface="Cambria"/>
                <a:cs typeface="Cambria"/>
              </a:rPr>
              <a:t>This</a:t>
            </a:r>
            <a:r>
              <a:rPr sz="1900" spc="5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Cambria"/>
                <a:cs typeface="Cambria"/>
              </a:rPr>
              <a:t>presentation</a:t>
            </a:r>
            <a:r>
              <a:rPr sz="1900" spc="9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20" dirty="0">
                <a:solidFill>
                  <a:srgbClr val="E1E6E9"/>
                </a:solidFill>
                <a:latin typeface="Cambria"/>
                <a:cs typeface="Cambria"/>
              </a:rPr>
              <a:t>explores</a:t>
            </a:r>
            <a:r>
              <a:rPr sz="1900" spc="7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45" dirty="0">
                <a:solidFill>
                  <a:srgbClr val="E1E6E9"/>
                </a:solidFill>
                <a:latin typeface="Cambria"/>
                <a:cs typeface="Cambria"/>
              </a:rPr>
              <a:t>automated</a:t>
            </a:r>
            <a:r>
              <a:rPr sz="1900" spc="5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Cambria"/>
                <a:cs typeface="Cambria"/>
              </a:rPr>
              <a:t>detection</a:t>
            </a:r>
            <a:r>
              <a:rPr sz="1900" spc="8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50" dirty="0">
                <a:solidFill>
                  <a:srgbClr val="E1E6E9"/>
                </a:solidFill>
                <a:latin typeface="Cambria"/>
                <a:cs typeface="Cambria"/>
              </a:rPr>
              <a:t>in</a:t>
            </a:r>
            <a:r>
              <a:rPr sz="1900" spc="6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14" dirty="0">
                <a:solidFill>
                  <a:srgbClr val="E1E6E9"/>
                </a:solidFill>
                <a:latin typeface="Cambria"/>
                <a:cs typeface="Cambria"/>
              </a:rPr>
              <a:t>football. </a:t>
            </a:r>
            <a:r>
              <a:rPr sz="1900" spc="120" dirty="0">
                <a:solidFill>
                  <a:srgbClr val="E1E6E9"/>
                </a:solidFill>
                <a:latin typeface="Cambria"/>
                <a:cs typeface="Cambria"/>
              </a:rPr>
              <a:t>We</a:t>
            </a:r>
            <a:r>
              <a:rPr sz="1900" spc="5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30" dirty="0">
                <a:solidFill>
                  <a:srgbClr val="E1E6E9"/>
                </a:solidFill>
                <a:latin typeface="Cambria"/>
                <a:cs typeface="Cambria"/>
              </a:rPr>
              <a:t>use</a:t>
            </a:r>
            <a:r>
              <a:rPr sz="1900" spc="5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05" dirty="0">
                <a:solidFill>
                  <a:srgbClr val="E1E6E9"/>
                </a:solidFill>
                <a:latin typeface="Cambria"/>
                <a:cs typeface="Cambria"/>
              </a:rPr>
              <a:t>deep</a:t>
            </a:r>
            <a:r>
              <a:rPr sz="1900" spc="5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40" dirty="0">
                <a:solidFill>
                  <a:srgbClr val="E1E6E9"/>
                </a:solidFill>
                <a:latin typeface="Cambria"/>
                <a:cs typeface="Cambria"/>
              </a:rPr>
              <a:t>learning</a:t>
            </a:r>
            <a:r>
              <a:rPr sz="1900" spc="6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50" dirty="0">
                <a:solidFill>
                  <a:srgbClr val="E1E6E9"/>
                </a:solidFill>
                <a:latin typeface="Cambria"/>
                <a:cs typeface="Cambria"/>
              </a:rPr>
              <a:t>and</a:t>
            </a:r>
            <a:r>
              <a:rPr sz="1900" spc="4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35" dirty="0">
                <a:solidFill>
                  <a:srgbClr val="E1E6E9"/>
                </a:solidFill>
                <a:latin typeface="Cambria"/>
                <a:cs typeface="Cambria"/>
              </a:rPr>
              <a:t>computer</a:t>
            </a:r>
            <a:r>
              <a:rPr sz="1900" spc="6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30" dirty="0">
                <a:solidFill>
                  <a:srgbClr val="E1E6E9"/>
                </a:solidFill>
                <a:latin typeface="Cambria"/>
                <a:cs typeface="Cambria"/>
              </a:rPr>
              <a:t>vision</a:t>
            </a:r>
            <a:r>
              <a:rPr sz="1900" spc="4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30" dirty="0">
                <a:solidFill>
                  <a:srgbClr val="E1E6E9"/>
                </a:solidFill>
                <a:latin typeface="Cambria"/>
                <a:cs typeface="Cambria"/>
              </a:rPr>
              <a:t>techniques.</a:t>
            </a:r>
            <a:r>
              <a:rPr sz="1900" spc="9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35" dirty="0">
                <a:solidFill>
                  <a:srgbClr val="E1E6E9"/>
                </a:solidFill>
                <a:latin typeface="Cambria"/>
                <a:cs typeface="Cambria"/>
              </a:rPr>
              <a:t>This </a:t>
            </a:r>
            <a:r>
              <a:rPr sz="1900" spc="114" dirty="0">
                <a:solidFill>
                  <a:srgbClr val="E1E6E9"/>
                </a:solidFill>
                <a:latin typeface="Cambria"/>
                <a:cs typeface="Cambria"/>
              </a:rPr>
              <a:t>provides</a:t>
            </a:r>
            <a:r>
              <a:rPr sz="1900" spc="5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45" dirty="0">
                <a:solidFill>
                  <a:srgbClr val="E1E6E9"/>
                </a:solidFill>
                <a:latin typeface="Cambria"/>
                <a:cs typeface="Cambria"/>
              </a:rPr>
              <a:t>faster,</a:t>
            </a:r>
            <a:r>
              <a:rPr sz="1900" spc="8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50" dirty="0">
                <a:solidFill>
                  <a:srgbClr val="E1E6E9"/>
                </a:solidFill>
                <a:latin typeface="Cambria"/>
                <a:cs typeface="Cambria"/>
              </a:rPr>
              <a:t>more</a:t>
            </a:r>
            <a:r>
              <a:rPr sz="1900" spc="5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20" dirty="0">
                <a:solidFill>
                  <a:srgbClr val="E1E6E9"/>
                </a:solidFill>
                <a:latin typeface="Cambria"/>
                <a:cs typeface="Cambria"/>
              </a:rPr>
              <a:t>accurate</a:t>
            </a:r>
            <a:r>
              <a:rPr sz="1900" spc="6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10" dirty="0">
                <a:solidFill>
                  <a:srgbClr val="E1E6E9"/>
                </a:solidFill>
                <a:latin typeface="Cambria"/>
                <a:cs typeface="Cambria"/>
              </a:rPr>
              <a:t>results.</a:t>
            </a:r>
            <a:endParaRPr sz="1900" dirty="0">
              <a:latin typeface="Cambria"/>
              <a:cs typeface="Cambria"/>
            </a:endParaRPr>
          </a:p>
          <a:p>
            <a:pPr marL="12700" marR="574040" indent="205740">
              <a:lnSpc>
                <a:spcPct val="135800"/>
              </a:lnSpc>
              <a:spcBef>
                <a:spcPts val="2225"/>
              </a:spcBef>
              <a:buChar char="-"/>
              <a:tabLst>
                <a:tab pos="218440" algn="l"/>
              </a:tabLst>
            </a:pPr>
            <a:r>
              <a:rPr lang="en-IN" sz="1900" spc="170" dirty="0">
                <a:solidFill>
                  <a:srgbClr val="E1E6E9"/>
                </a:solidFill>
                <a:latin typeface="Cambria"/>
                <a:cs typeface="Cambria"/>
              </a:rPr>
              <a:t>Raghav Singhal</a:t>
            </a:r>
            <a:r>
              <a:rPr sz="1900" spc="6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80" dirty="0">
                <a:solidFill>
                  <a:srgbClr val="E1E6E9"/>
                </a:solidFill>
                <a:latin typeface="Cambria"/>
                <a:cs typeface="Cambria"/>
              </a:rPr>
              <a:t>(E23CSEU1</a:t>
            </a:r>
            <a:r>
              <a:rPr lang="en-IN" sz="1900" spc="80" dirty="0">
                <a:solidFill>
                  <a:srgbClr val="E1E6E9"/>
                </a:solidFill>
                <a:latin typeface="Cambria"/>
                <a:cs typeface="Cambria"/>
              </a:rPr>
              <a:t>278</a:t>
            </a:r>
            <a:r>
              <a:rPr sz="1900" spc="80" dirty="0">
                <a:solidFill>
                  <a:srgbClr val="E1E6E9"/>
                </a:solidFill>
                <a:latin typeface="Cambria"/>
                <a:cs typeface="Cambria"/>
              </a:rPr>
              <a:t>) </a:t>
            </a:r>
            <a:r>
              <a:rPr sz="1900" spc="560" dirty="0">
                <a:solidFill>
                  <a:srgbClr val="E1E6E9"/>
                </a:solidFill>
                <a:latin typeface="Cambria"/>
                <a:cs typeface="Cambria"/>
              </a:rPr>
              <a:t>-</a:t>
            </a:r>
            <a:r>
              <a:rPr sz="1900" spc="3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14" dirty="0">
                <a:solidFill>
                  <a:srgbClr val="E1E6E9"/>
                </a:solidFill>
                <a:latin typeface="Cambria"/>
                <a:cs typeface="Cambria"/>
              </a:rPr>
              <a:t>Project</a:t>
            </a:r>
            <a:r>
              <a:rPr sz="1900" spc="7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55" dirty="0">
                <a:solidFill>
                  <a:srgbClr val="E1E6E9"/>
                </a:solidFill>
                <a:latin typeface="Cambria"/>
                <a:cs typeface="Cambria"/>
              </a:rPr>
              <a:t>Lead</a:t>
            </a:r>
            <a:r>
              <a:rPr lang="en-IN" sz="1900" spc="135" dirty="0">
                <a:solidFill>
                  <a:srgbClr val="E1E6E9"/>
                </a:solidFill>
                <a:latin typeface="Cambria"/>
                <a:cs typeface="Cambria"/>
              </a:rPr>
              <a:t>, </a:t>
            </a:r>
            <a:r>
              <a:rPr lang="en-IN" sz="1900" spc="140" dirty="0">
                <a:solidFill>
                  <a:srgbClr val="E1E6E9"/>
                </a:solidFill>
                <a:latin typeface="Cambria"/>
                <a:cs typeface="Cambria"/>
              </a:rPr>
              <a:t>Evaluation, Data</a:t>
            </a:r>
            <a:r>
              <a:rPr lang="en-IN" sz="1900" spc="5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lang="en-IN" sz="1900" spc="130" dirty="0">
                <a:solidFill>
                  <a:srgbClr val="E1E6E9"/>
                </a:solidFill>
                <a:latin typeface="Cambria"/>
                <a:cs typeface="Cambria"/>
              </a:rPr>
              <a:t>Collection</a:t>
            </a:r>
            <a:endParaRPr sz="19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  <a:buClr>
                <a:srgbClr val="E1E6E9"/>
              </a:buClr>
              <a:buFont typeface="Cambria"/>
              <a:buChar char="-"/>
            </a:pPr>
            <a:endParaRPr sz="1900" dirty="0">
              <a:latin typeface="Cambria"/>
              <a:cs typeface="Cambria"/>
            </a:endParaRPr>
          </a:p>
          <a:p>
            <a:pPr marL="12700" marR="707390" indent="205740">
              <a:lnSpc>
                <a:spcPct val="135800"/>
              </a:lnSpc>
              <a:buChar char="-"/>
              <a:tabLst>
                <a:tab pos="218440" algn="l"/>
              </a:tabLst>
            </a:pPr>
            <a:r>
              <a:rPr lang="en-IN" sz="1900" spc="130" dirty="0">
                <a:solidFill>
                  <a:srgbClr val="E1E6E9"/>
                </a:solidFill>
                <a:latin typeface="Cambria"/>
                <a:cs typeface="Cambria"/>
              </a:rPr>
              <a:t>Mayank Maletha</a:t>
            </a:r>
            <a:r>
              <a:rPr sz="1900" spc="6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95" dirty="0">
                <a:solidFill>
                  <a:srgbClr val="E1E6E9"/>
                </a:solidFill>
                <a:latin typeface="Cambria"/>
                <a:cs typeface="Cambria"/>
              </a:rPr>
              <a:t>(E23CSEU129</a:t>
            </a:r>
            <a:r>
              <a:rPr lang="en-IN" sz="1900" spc="95" dirty="0">
                <a:solidFill>
                  <a:srgbClr val="E1E6E9"/>
                </a:solidFill>
                <a:latin typeface="Cambria"/>
                <a:cs typeface="Cambria"/>
              </a:rPr>
              <a:t>0</a:t>
            </a:r>
            <a:r>
              <a:rPr sz="1900" spc="95" dirty="0">
                <a:solidFill>
                  <a:srgbClr val="E1E6E9"/>
                </a:solidFill>
                <a:latin typeface="Cambria"/>
                <a:cs typeface="Cambria"/>
              </a:rPr>
              <a:t>)</a:t>
            </a:r>
            <a:r>
              <a:rPr sz="1900" spc="8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560" dirty="0">
                <a:solidFill>
                  <a:srgbClr val="E1E6E9"/>
                </a:solidFill>
                <a:latin typeface="Cambria"/>
                <a:cs typeface="Cambria"/>
              </a:rPr>
              <a:t>-</a:t>
            </a:r>
            <a:r>
              <a:rPr lang="en-IN" sz="1900" spc="150" dirty="0">
                <a:solidFill>
                  <a:srgbClr val="E1E6E9"/>
                </a:solidFill>
                <a:latin typeface="Cambria"/>
                <a:cs typeface="Cambria"/>
              </a:rPr>
              <a:t> Model </a:t>
            </a:r>
            <a:r>
              <a:rPr lang="en-IN" sz="1900" spc="135" dirty="0">
                <a:solidFill>
                  <a:srgbClr val="E1E6E9"/>
                </a:solidFill>
                <a:latin typeface="Cambria"/>
                <a:cs typeface="Cambria"/>
              </a:rPr>
              <a:t>Development</a:t>
            </a:r>
            <a:r>
              <a:rPr sz="1900" spc="130" dirty="0">
                <a:solidFill>
                  <a:srgbClr val="E1E6E9"/>
                </a:solidFill>
                <a:latin typeface="Cambria"/>
                <a:cs typeface="Cambria"/>
              </a:rPr>
              <a:t>, </a:t>
            </a:r>
            <a:r>
              <a:rPr sz="1900" spc="120" dirty="0">
                <a:solidFill>
                  <a:srgbClr val="E1E6E9"/>
                </a:solidFill>
                <a:latin typeface="Cambria"/>
                <a:cs typeface="Cambria"/>
              </a:rPr>
              <a:t>Preprocessing</a:t>
            </a:r>
            <a:r>
              <a:rPr lang="en-IN" sz="1900" spc="120" dirty="0">
                <a:solidFill>
                  <a:srgbClr val="E1E6E9"/>
                </a:solidFill>
                <a:latin typeface="Cambria"/>
                <a:cs typeface="Cambria"/>
              </a:rPr>
              <a:t>,</a:t>
            </a:r>
            <a:r>
              <a:rPr lang="en-IN" sz="1900" spc="135" dirty="0">
                <a:solidFill>
                  <a:srgbClr val="E1E6E9"/>
                </a:solidFill>
                <a:latin typeface="Cambria"/>
                <a:cs typeface="Cambria"/>
              </a:rPr>
              <a:t> Results</a:t>
            </a:r>
            <a:r>
              <a:rPr lang="en-IN" sz="1900" spc="6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lang="en-IN" sz="1900" spc="120" dirty="0">
                <a:solidFill>
                  <a:srgbClr val="E1E6E9"/>
                </a:solidFill>
                <a:latin typeface="Cambria"/>
                <a:cs typeface="Cambria"/>
              </a:rPr>
              <a:t>Analysis</a:t>
            </a:r>
            <a:endParaRPr sz="19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Clr>
                <a:srgbClr val="E1E6E9"/>
              </a:buClr>
            </a:pPr>
            <a:endParaRPr sz="19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90143" y="762381"/>
            <a:ext cx="6866255" cy="142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600"/>
              </a:lnSpc>
            </a:pPr>
            <a:r>
              <a:rPr sz="4500" spc="360" dirty="0"/>
              <a:t>Motivation:</a:t>
            </a:r>
            <a:r>
              <a:rPr sz="4500" spc="100" dirty="0"/>
              <a:t> </a:t>
            </a:r>
            <a:r>
              <a:rPr sz="4500" spc="370" dirty="0"/>
              <a:t>Automating </a:t>
            </a:r>
            <a:r>
              <a:rPr sz="4500" spc="295" dirty="0"/>
              <a:t>Football</a:t>
            </a:r>
            <a:r>
              <a:rPr sz="4500" spc="95" dirty="0"/>
              <a:t> </a:t>
            </a:r>
            <a:r>
              <a:rPr sz="4500" spc="310" dirty="0"/>
              <a:t>Analysis</a:t>
            </a:r>
            <a:endParaRPr sz="4500"/>
          </a:p>
        </p:txBody>
      </p:sp>
      <p:grpSp>
        <p:nvGrpSpPr>
          <p:cNvPr id="4" name="object 4"/>
          <p:cNvGrpSpPr/>
          <p:nvPr/>
        </p:nvGrpSpPr>
        <p:grpSpPr>
          <a:xfrm>
            <a:off x="799033" y="2844926"/>
            <a:ext cx="523875" cy="523875"/>
            <a:chOff x="799033" y="2844926"/>
            <a:chExt cx="523875" cy="523875"/>
          </a:xfrm>
        </p:grpSpPr>
        <p:sp>
          <p:nvSpPr>
            <p:cNvPr id="5" name="object 5"/>
            <p:cNvSpPr/>
            <p:nvPr/>
          </p:nvSpPr>
          <p:spPr>
            <a:xfrm>
              <a:off x="802843" y="2848736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5" h="516254">
                  <a:moveTo>
                    <a:pt x="419773" y="0"/>
                  </a:moveTo>
                  <a:lnTo>
                    <a:pt x="96342" y="0"/>
                  </a:lnTo>
                  <a:lnTo>
                    <a:pt x="58839" y="7558"/>
                  </a:lnTo>
                  <a:lnTo>
                    <a:pt x="28216" y="28178"/>
                  </a:lnTo>
                  <a:lnTo>
                    <a:pt x="7570" y="58775"/>
                  </a:lnTo>
                  <a:lnTo>
                    <a:pt x="0" y="96265"/>
                  </a:lnTo>
                  <a:lnTo>
                    <a:pt x="0" y="419735"/>
                  </a:lnTo>
                  <a:lnTo>
                    <a:pt x="7570" y="457245"/>
                  </a:lnTo>
                  <a:lnTo>
                    <a:pt x="28216" y="487886"/>
                  </a:lnTo>
                  <a:lnTo>
                    <a:pt x="58839" y="508549"/>
                  </a:lnTo>
                  <a:lnTo>
                    <a:pt x="96342" y="516127"/>
                  </a:lnTo>
                  <a:lnTo>
                    <a:pt x="419773" y="516127"/>
                  </a:lnTo>
                  <a:lnTo>
                    <a:pt x="457291" y="508549"/>
                  </a:lnTo>
                  <a:lnTo>
                    <a:pt x="487935" y="487886"/>
                  </a:lnTo>
                  <a:lnTo>
                    <a:pt x="508600" y="457245"/>
                  </a:lnTo>
                  <a:lnTo>
                    <a:pt x="516178" y="419735"/>
                  </a:lnTo>
                  <a:lnTo>
                    <a:pt x="516178" y="96265"/>
                  </a:lnTo>
                  <a:lnTo>
                    <a:pt x="508600" y="58775"/>
                  </a:lnTo>
                  <a:lnTo>
                    <a:pt x="487935" y="28178"/>
                  </a:lnTo>
                  <a:lnTo>
                    <a:pt x="457291" y="7558"/>
                  </a:lnTo>
                  <a:lnTo>
                    <a:pt x="419773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2843" y="2848736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5" h="516254">
                  <a:moveTo>
                    <a:pt x="0" y="96265"/>
                  </a:moveTo>
                  <a:lnTo>
                    <a:pt x="7570" y="58775"/>
                  </a:lnTo>
                  <a:lnTo>
                    <a:pt x="28216" y="28178"/>
                  </a:lnTo>
                  <a:lnTo>
                    <a:pt x="58839" y="7558"/>
                  </a:lnTo>
                  <a:lnTo>
                    <a:pt x="96342" y="0"/>
                  </a:lnTo>
                  <a:lnTo>
                    <a:pt x="419773" y="0"/>
                  </a:lnTo>
                  <a:lnTo>
                    <a:pt x="457291" y="7558"/>
                  </a:lnTo>
                  <a:lnTo>
                    <a:pt x="487935" y="28178"/>
                  </a:lnTo>
                  <a:lnTo>
                    <a:pt x="508600" y="58775"/>
                  </a:lnTo>
                  <a:lnTo>
                    <a:pt x="516178" y="96265"/>
                  </a:lnTo>
                  <a:lnTo>
                    <a:pt x="516178" y="419735"/>
                  </a:lnTo>
                  <a:lnTo>
                    <a:pt x="508600" y="457245"/>
                  </a:lnTo>
                  <a:lnTo>
                    <a:pt x="487935" y="487886"/>
                  </a:lnTo>
                  <a:lnTo>
                    <a:pt x="457291" y="508549"/>
                  </a:lnTo>
                  <a:lnTo>
                    <a:pt x="419773" y="516127"/>
                  </a:lnTo>
                  <a:lnTo>
                    <a:pt x="96342" y="516127"/>
                  </a:lnTo>
                  <a:lnTo>
                    <a:pt x="58839" y="508549"/>
                  </a:lnTo>
                  <a:lnTo>
                    <a:pt x="28216" y="487886"/>
                  </a:lnTo>
                  <a:lnTo>
                    <a:pt x="7570" y="457245"/>
                  </a:lnTo>
                  <a:lnTo>
                    <a:pt x="0" y="419735"/>
                  </a:lnTo>
                  <a:lnTo>
                    <a:pt x="0" y="96265"/>
                  </a:lnTo>
                  <a:close/>
                </a:path>
              </a:pathLst>
            </a:custGeom>
            <a:ln w="761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35683" y="2816733"/>
            <a:ext cx="2989580" cy="1968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155" dirty="0">
                <a:solidFill>
                  <a:srgbClr val="E1E6E9"/>
                </a:solidFill>
                <a:latin typeface="Cambria"/>
                <a:cs typeface="Cambria"/>
              </a:rPr>
              <a:t>Need</a:t>
            </a:r>
            <a:r>
              <a:rPr sz="2250" spc="5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2250" spc="165" dirty="0">
                <a:solidFill>
                  <a:srgbClr val="E1E6E9"/>
                </a:solidFill>
                <a:latin typeface="Cambria"/>
                <a:cs typeface="Cambria"/>
              </a:rPr>
              <a:t>for</a:t>
            </a:r>
            <a:r>
              <a:rPr sz="2250" spc="1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2250" spc="170" dirty="0">
                <a:solidFill>
                  <a:srgbClr val="E1E6E9"/>
                </a:solidFill>
                <a:latin typeface="Cambria"/>
                <a:cs typeface="Cambria"/>
              </a:rPr>
              <a:t>Automation</a:t>
            </a:r>
            <a:endParaRPr sz="2250">
              <a:latin typeface="Cambria"/>
              <a:cs typeface="Cambria"/>
            </a:endParaRPr>
          </a:p>
          <a:p>
            <a:pPr marL="12700" marR="86995">
              <a:lnSpc>
                <a:spcPct val="134300"/>
              </a:lnSpc>
              <a:spcBef>
                <a:spcPts val="990"/>
              </a:spcBef>
            </a:pPr>
            <a:r>
              <a:rPr sz="1800" spc="114" dirty="0">
                <a:solidFill>
                  <a:srgbClr val="E1E6E9"/>
                </a:solidFill>
                <a:latin typeface="Cambria"/>
                <a:cs typeface="Cambria"/>
              </a:rPr>
              <a:t>Football</a:t>
            </a:r>
            <a:r>
              <a:rPr sz="1800" spc="7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25" dirty="0">
                <a:solidFill>
                  <a:srgbClr val="E1E6E9"/>
                </a:solidFill>
                <a:latin typeface="Cambria"/>
                <a:cs typeface="Cambria"/>
              </a:rPr>
              <a:t>analysis</a:t>
            </a:r>
            <a:r>
              <a:rPr sz="1800" spc="6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14" dirty="0">
                <a:solidFill>
                  <a:srgbClr val="E1E6E9"/>
                </a:solidFill>
                <a:latin typeface="Cambria"/>
                <a:cs typeface="Cambria"/>
              </a:rPr>
              <a:t>benefits </a:t>
            </a:r>
            <a:r>
              <a:rPr sz="1800" spc="120" dirty="0">
                <a:solidFill>
                  <a:srgbClr val="E1E6E9"/>
                </a:solidFill>
                <a:latin typeface="Cambria"/>
                <a:cs typeface="Cambria"/>
              </a:rPr>
              <a:t>greatly</a:t>
            </a:r>
            <a:r>
              <a:rPr sz="1800" spc="1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65" dirty="0">
                <a:solidFill>
                  <a:srgbClr val="E1E6E9"/>
                </a:solidFill>
                <a:latin typeface="Cambria"/>
                <a:cs typeface="Cambria"/>
              </a:rPr>
              <a:t>from</a:t>
            </a:r>
            <a:r>
              <a:rPr sz="1800" spc="4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25" dirty="0">
                <a:solidFill>
                  <a:srgbClr val="E1E6E9"/>
                </a:solidFill>
                <a:latin typeface="Cambria"/>
                <a:cs typeface="Cambria"/>
              </a:rPr>
              <a:t>automation. </a:t>
            </a:r>
            <a:r>
              <a:rPr sz="1800" spc="165" dirty="0">
                <a:solidFill>
                  <a:srgbClr val="E1E6E9"/>
                </a:solidFill>
                <a:latin typeface="Cambria"/>
                <a:cs typeface="Cambria"/>
              </a:rPr>
              <a:t>Manual</a:t>
            </a:r>
            <a:r>
              <a:rPr sz="1800" spc="4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35" dirty="0">
                <a:solidFill>
                  <a:srgbClr val="E1E6E9"/>
                </a:solidFill>
                <a:latin typeface="Cambria"/>
                <a:cs typeface="Cambria"/>
              </a:rPr>
              <a:t>tracking</a:t>
            </a:r>
            <a:r>
              <a:rPr sz="1800" spc="4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10" dirty="0">
                <a:solidFill>
                  <a:srgbClr val="E1E6E9"/>
                </a:solidFill>
                <a:latin typeface="Cambria"/>
                <a:cs typeface="Cambria"/>
              </a:rPr>
              <a:t>is</a:t>
            </a:r>
            <a:r>
              <a:rPr sz="1800" spc="4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95" dirty="0">
                <a:solidFill>
                  <a:srgbClr val="E1E6E9"/>
                </a:solidFill>
                <a:latin typeface="Cambria"/>
                <a:cs typeface="Cambria"/>
              </a:rPr>
              <a:t>slow </a:t>
            </a:r>
            <a:r>
              <a:rPr sz="1800" spc="140" dirty="0">
                <a:solidFill>
                  <a:srgbClr val="E1E6E9"/>
                </a:solidFill>
                <a:latin typeface="Cambria"/>
                <a:cs typeface="Cambria"/>
              </a:rPr>
              <a:t>and</a:t>
            </a:r>
            <a:r>
              <a:rPr sz="1800" spc="2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25" dirty="0">
                <a:solidFill>
                  <a:srgbClr val="E1E6E9"/>
                </a:solidFill>
                <a:latin typeface="Cambria"/>
                <a:cs typeface="Cambria"/>
              </a:rPr>
              <a:t>prone</a:t>
            </a:r>
            <a:r>
              <a:rPr sz="1800" spc="4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25" dirty="0">
                <a:solidFill>
                  <a:srgbClr val="E1E6E9"/>
                </a:solidFill>
                <a:latin typeface="Cambria"/>
                <a:cs typeface="Cambria"/>
              </a:rPr>
              <a:t>to</a:t>
            </a:r>
            <a:r>
              <a:rPr sz="1800" spc="5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E1E6E9"/>
                </a:solidFill>
                <a:latin typeface="Cambria"/>
                <a:cs typeface="Cambria"/>
              </a:rPr>
              <a:t>errors.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682871" y="2844926"/>
            <a:ext cx="523875" cy="523875"/>
            <a:chOff x="4682871" y="2844926"/>
            <a:chExt cx="523875" cy="523875"/>
          </a:xfrm>
        </p:grpSpPr>
        <p:sp>
          <p:nvSpPr>
            <p:cNvPr id="9" name="object 9"/>
            <p:cNvSpPr/>
            <p:nvPr/>
          </p:nvSpPr>
          <p:spPr>
            <a:xfrm>
              <a:off x="4686681" y="2848736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419735" y="0"/>
                  </a:moveTo>
                  <a:lnTo>
                    <a:pt x="96266" y="0"/>
                  </a:lnTo>
                  <a:lnTo>
                    <a:pt x="58775" y="7558"/>
                  </a:lnTo>
                  <a:lnTo>
                    <a:pt x="28178" y="28178"/>
                  </a:lnTo>
                  <a:lnTo>
                    <a:pt x="7558" y="58775"/>
                  </a:lnTo>
                  <a:lnTo>
                    <a:pt x="0" y="96265"/>
                  </a:lnTo>
                  <a:lnTo>
                    <a:pt x="0" y="419735"/>
                  </a:lnTo>
                  <a:lnTo>
                    <a:pt x="7558" y="457245"/>
                  </a:lnTo>
                  <a:lnTo>
                    <a:pt x="28178" y="487886"/>
                  </a:lnTo>
                  <a:lnTo>
                    <a:pt x="58775" y="508549"/>
                  </a:lnTo>
                  <a:lnTo>
                    <a:pt x="96266" y="516127"/>
                  </a:lnTo>
                  <a:lnTo>
                    <a:pt x="419735" y="516127"/>
                  </a:lnTo>
                  <a:lnTo>
                    <a:pt x="457245" y="508549"/>
                  </a:lnTo>
                  <a:lnTo>
                    <a:pt x="487886" y="487886"/>
                  </a:lnTo>
                  <a:lnTo>
                    <a:pt x="508549" y="457245"/>
                  </a:lnTo>
                  <a:lnTo>
                    <a:pt x="516128" y="419735"/>
                  </a:lnTo>
                  <a:lnTo>
                    <a:pt x="516128" y="96265"/>
                  </a:lnTo>
                  <a:lnTo>
                    <a:pt x="508549" y="58775"/>
                  </a:lnTo>
                  <a:lnTo>
                    <a:pt x="487886" y="28178"/>
                  </a:lnTo>
                  <a:lnTo>
                    <a:pt x="457245" y="7558"/>
                  </a:lnTo>
                  <a:lnTo>
                    <a:pt x="419735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86681" y="2848736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4" h="516254">
                  <a:moveTo>
                    <a:pt x="0" y="96265"/>
                  </a:moveTo>
                  <a:lnTo>
                    <a:pt x="7558" y="58775"/>
                  </a:lnTo>
                  <a:lnTo>
                    <a:pt x="28178" y="28178"/>
                  </a:lnTo>
                  <a:lnTo>
                    <a:pt x="58775" y="7558"/>
                  </a:lnTo>
                  <a:lnTo>
                    <a:pt x="96266" y="0"/>
                  </a:lnTo>
                  <a:lnTo>
                    <a:pt x="419735" y="0"/>
                  </a:lnTo>
                  <a:lnTo>
                    <a:pt x="457245" y="7558"/>
                  </a:lnTo>
                  <a:lnTo>
                    <a:pt x="487886" y="28178"/>
                  </a:lnTo>
                  <a:lnTo>
                    <a:pt x="508549" y="58775"/>
                  </a:lnTo>
                  <a:lnTo>
                    <a:pt x="516128" y="96265"/>
                  </a:lnTo>
                  <a:lnTo>
                    <a:pt x="516128" y="419735"/>
                  </a:lnTo>
                  <a:lnTo>
                    <a:pt x="508549" y="457245"/>
                  </a:lnTo>
                  <a:lnTo>
                    <a:pt x="487886" y="487886"/>
                  </a:lnTo>
                  <a:lnTo>
                    <a:pt x="457245" y="508549"/>
                  </a:lnTo>
                  <a:lnTo>
                    <a:pt x="419735" y="516127"/>
                  </a:lnTo>
                  <a:lnTo>
                    <a:pt x="96266" y="516127"/>
                  </a:lnTo>
                  <a:lnTo>
                    <a:pt x="58775" y="508549"/>
                  </a:lnTo>
                  <a:lnTo>
                    <a:pt x="28178" y="487886"/>
                  </a:lnTo>
                  <a:lnTo>
                    <a:pt x="7558" y="457245"/>
                  </a:lnTo>
                  <a:lnTo>
                    <a:pt x="0" y="419735"/>
                  </a:lnTo>
                  <a:lnTo>
                    <a:pt x="0" y="96265"/>
                  </a:lnTo>
                  <a:close/>
                </a:path>
              </a:pathLst>
            </a:custGeom>
            <a:ln w="762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420105" y="2816733"/>
            <a:ext cx="2821305" cy="232664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748030">
              <a:lnSpc>
                <a:spcPct val="103600"/>
              </a:lnSpc>
              <a:spcBef>
                <a:spcPts val="5"/>
              </a:spcBef>
            </a:pPr>
            <a:r>
              <a:rPr sz="2250" spc="160" dirty="0">
                <a:solidFill>
                  <a:srgbClr val="E1E6E9"/>
                </a:solidFill>
                <a:latin typeface="Cambria"/>
                <a:cs typeface="Cambria"/>
              </a:rPr>
              <a:t>Deep</a:t>
            </a:r>
            <a:r>
              <a:rPr sz="2250" spc="1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2250" spc="170" dirty="0">
                <a:solidFill>
                  <a:srgbClr val="E1E6E9"/>
                </a:solidFill>
                <a:latin typeface="Cambria"/>
                <a:cs typeface="Cambria"/>
              </a:rPr>
              <a:t>Learning </a:t>
            </a:r>
            <a:r>
              <a:rPr sz="2250" spc="160" dirty="0">
                <a:solidFill>
                  <a:srgbClr val="E1E6E9"/>
                </a:solidFill>
                <a:latin typeface="Cambria"/>
                <a:cs typeface="Cambria"/>
              </a:rPr>
              <a:t>Advantage</a:t>
            </a:r>
            <a:endParaRPr sz="2250">
              <a:latin typeface="Cambria"/>
              <a:cs typeface="Cambria"/>
            </a:endParaRPr>
          </a:p>
          <a:p>
            <a:pPr marL="12700" marR="5080">
              <a:lnSpc>
                <a:spcPct val="134300"/>
              </a:lnSpc>
              <a:spcBef>
                <a:spcPts val="1015"/>
              </a:spcBef>
            </a:pPr>
            <a:r>
              <a:rPr sz="1800" spc="125" dirty="0">
                <a:solidFill>
                  <a:srgbClr val="E1E6E9"/>
                </a:solidFill>
                <a:latin typeface="Cambria"/>
                <a:cs typeface="Cambria"/>
              </a:rPr>
              <a:t>Deep</a:t>
            </a:r>
            <a:r>
              <a:rPr sz="1800" spc="1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35" dirty="0">
                <a:solidFill>
                  <a:srgbClr val="E1E6E9"/>
                </a:solidFill>
                <a:latin typeface="Cambria"/>
                <a:cs typeface="Cambria"/>
              </a:rPr>
              <a:t>learning</a:t>
            </a:r>
            <a:r>
              <a:rPr sz="1800" spc="4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14" dirty="0">
                <a:solidFill>
                  <a:srgbClr val="E1E6E9"/>
                </a:solidFill>
                <a:latin typeface="Cambria"/>
                <a:cs typeface="Cambria"/>
              </a:rPr>
              <a:t>offers </a:t>
            </a:r>
            <a:r>
              <a:rPr sz="1800" spc="130" dirty="0">
                <a:solidFill>
                  <a:srgbClr val="E1E6E9"/>
                </a:solidFill>
                <a:latin typeface="Cambria"/>
                <a:cs typeface="Cambria"/>
              </a:rPr>
              <a:t>faster,</a:t>
            </a:r>
            <a:r>
              <a:rPr sz="1800" spc="4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50" dirty="0">
                <a:solidFill>
                  <a:srgbClr val="E1E6E9"/>
                </a:solidFill>
                <a:latin typeface="Cambria"/>
                <a:cs typeface="Cambria"/>
              </a:rPr>
              <a:t>more</a:t>
            </a:r>
            <a:r>
              <a:rPr sz="1800" spc="4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E1E6E9"/>
                </a:solidFill>
                <a:latin typeface="Cambria"/>
                <a:cs typeface="Cambria"/>
              </a:rPr>
              <a:t>accurate </a:t>
            </a:r>
            <a:r>
              <a:rPr sz="1800" spc="120" dirty="0">
                <a:solidFill>
                  <a:srgbClr val="E1E6E9"/>
                </a:solidFill>
                <a:latin typeface="Cambria"/>
                <a:cs typeface="Cambria"/>
              </a:rPr>
              <a:t>detection.</a:t>
            </a:r>
            <a:r>
              <a:rPr sz="180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45" dirty="0">
                <a:solidFill>
                  <a:srgbClr val="E1E6E9"/>
                </a:solidFill>
                <a:latin typeface="Cambria"/>
                <a:cs typeface="Cambria"/>
              </a:rPr>
              <a:t>This</a:t>
            </a:r>
            <a:r>
              <a:rPr sz="180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35" dirty="0">
                <a:solidFill>
                  <a:srgbClr val="E1E6E9"/>
                </a:solidFill>
                <a:latin typeface="Cambria"/>
                <a:cs typeface="Cambria"/>
              </a:rPr>
              <a:t>enhances </a:t>
            </a:r>
            <a:r>
              <a:rPr sz="1800" spc="185" dirty="0">
                <a:solidFill>
                  <a:srgbClr val="E1E6E9"/>
                </a:solidFill>
                <a:latin typeface="Cambria"/>
                <a:cs typeface="Cambria"/>
              </a:rPr>
              <a:t>real-</a:t>
            </a:r>
            <a:r>
              <a:rPr sz="1800" spc="145" dirty="0">
                <a:solidFill>
                  <a:srgbClr val="E1E6E9"/>
                </a:solidFill>
                <a:latin typeface="Cambria"/>
                <a:cs typeface="Cambria"/>
              </a:rPr>
              <a:t>time</a:t>
            </a:r>
            <a:r>
              <a:rPr sz="1800" spc="3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00" dirty="0">
                <a:solidFill>
                  <a:srgbClr val="E1E6E9"/>
                </a:solidFill>
                <a:latin typeface="Cambria"/>
                <a:cs typeface="Cambria"/>
              </a:rPr>
              <a:t>capabilities.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99033" y="5655055"/>
            <a:ext cx="523875" cy="523875"/>
            <a:chOff x="799033" y="5655055"/>
            <a:chExt cx="523875" cy="523875"/>
          </a:xfrm>
        </p:grpSpPr>
        <p:sp>
          <p:nvSpPr>
            <p:cNvPr id="13" name="object 13"/>
            <p:cNvSpPr/>
            <p:nvPr/>
          </p:nvSpPr>
          <p:spPr>
            <a:xfrm>
              <a:off x="802843" y="5658865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5" h="516254">
                  <a:moveTo>
                    <a:pt x="419773" y="0"/>
                  </a:moveTo>
                  <a:lnTo>
                    <a:pt x="96342" y="0"/>
                  </a:lnTo>
                  <a:lnTo>
                    <a:pt x="58839" y="7578"/>
                  </a:lnTo>
                  <a:lnTo>
                    <a:pt x="28216" y="28241"/>
                  </a:lnTo>
                  <a:lnTo>
                    <a:pt x="7570" y="58882"/>
                  </a:lnTo>
                  <a:lnTo>
                    <a:pt x="0" y="96392"/>
                  </a:lnTo>
                  <a:lnTo>
                    <a:pt x="0" y="419861"/>
                  </a:lnTo>
                  <a:lnTo>
                    <a:pt x="7570" y="457372"/>
                  </a:lnTo>
                  <a:lnTo>
                    <a:pt x="28216" y="488013"/>
                  </a:lnTo>
                  <a:lnTo>
                    <a:pt x="58839" y="508676"/>
                  </a:lnTo>
                  <a:lnTo>
                    <a:pt x="96342" y="516254"/>
                  </a:lnTo>
                  <a:lnTo>
                    <a:pt x="419773" y="516254"/>
                  </a:lnTo>
                  <a:lnTo>
                    <a:pt x="457291" y="508676"/>
                  </a:lnTo>
                  <a:lnTo>
                    <a:pt x="487935" y="488013"/>
                  </a:lnTo>
                  <a:lnTo>
                    <a:pt x="508600" y="457372"/>
                  </a:lnTo>
                  <a:lnTo>
                    <a:pt x="516178" y="419861"/>
                  </a:lnTo>
                  <a:lnTo>
                    <a:pt x="516178" y="96392"/>
                  </a:lnTo>
                  <a:lnTo>
                    <a:pt x="508600" y="58882"/>
                  </a:lnTo>
                  <a:lnTo>
                    <a:pt x="487935" y="28241"/>
                  </a:lnTo>
                  <a:lnTo>
                    <a:pt x="457291" y="7578"/>
                  </a:lnTo>
                  <a:lnTo>
                    <a:pt x="419773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2843" y="5658865"/>
              <a:ext cx="516255" cy="516255"/>
            </a:xfrm>
            <a:custGeom>
              <a:avLst/>
              <a:gdLst/>
              <a:ahLst/>
              <a:cxnLst/>
              <a:rect l="l" t="t" r="r" b="b"/>
              <a:pathLst>
                <a:path w="516255" h="516254">
                  <a:moveTo>
                    <a:pt x="0" y="96392"/>
                  </a:moveTo>
                  <a:lnTo>
                    <a:pt x="7570" y="58882"/>
                  </a:lnTo>
                  <a:lnTo>
                    <a:pt x="28216" y="28241"/>
                  </a:lnTo>
                  <a:lnTo>
                    <a:pt x="58839" y="7578"/>
                  </a:lnTo>
                  <a:lnTo>
                    <a:pt x="96342" y="0"/>
                  </a:lnTo>
                  <a:lnTo>
                    <a:pt x="419773" y="0"/>
                  </a:lnTo>
                  <a:lnTo>
                    <a:pt x="457291" y="7578"/>
                  </a:lnTo>
                  <a:lnTo>
                    <a:pt x="487935" y="28241"/>
                  </a:lnTo>
                  <a:lnTo>
                    <a:pt x="508600" y="58882"/>
                  </a:lnTo>
                  <a:lnTo>
                    <a:pt x="516178" y="96392"/>
                  </a:lnTo>
                  <a:lnTo>
                    <a:pt x="516178" y="419861"/>
                  </a:lnTo>
                  <a:lnTo>
                    <a:pt x="508600" y="457372"/>
                  </a:lnTo>
                  <a:lnTo>
                    <a:pt x="487935" y="488013"/>
                  </a:lnTo>
                  <a:lnTo>
                    <a:pt x="457291" y="508676"/>
                  </a:lnTo>
                  <a:lnTo>
                    <a:pt x="419773" y="516254"/>
                  </a:lnTo>
                  <a:lnTo>
                    <a:pt x="96342" y="516254"/>
                  </a:lnTo>
                  <a:lnTo>
                    <a:pt x="58839" y="508676"/>
                  </a:lnTo>
                  <a:lnTo>
                    <a:pt x="28216" y="488013"/>
                  </a:lnTo>
                  <a:lnTo>
                    <a:pt x="7570" y="457372"/>
                  </a:lnTo>
                  <a:lnTo>
                    <a:pt x="0" y="419861"/>
                  </a:lnTo>
                  <a:lnTo>
                    <a:pt x="0" y="96392"/>
                  </a:lnTo>
                  <a:close/>
                </a:path>
              </a:pathLst>
            </a:custGeom>
            <a:ln w="762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535683" y="5627623"/>
            <a:ext cx="352869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245" dirty="0">
                <a:solidFill>
                  <a:srgbClr val="E1E6E9"/>
                </a:solidFill>
                <a:latin typeface="Cambria"/>
                <a:cs typeface="Cambria"/>
              </a:rPr>
              <a:t>Real-</a:t>
            </a:r>
            <a:r>
              <a:rPr sz="2250" spc="145" dirty="0">
                <a:solidFill>
                  <a:srgbClr val="E1E6E9"/>
                </a:solidFill>
                <a:latin typeface="Cambria"/>
                <a:cs typeface="Cambria"/>
              </a:rPr>
              <a:t>World</a:t>
            </a:r>
            <a:r>
              <a:rPr sz="2250" spc="1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2250" spc="150" dirty="0">
                <a:solidFill>
                  <a:srgbClr val="E1E6E9"/>
                </a:solidFill>
                <a:latin typeface="Cambria"/>
                <a:cs typeface="Cambria"/>
              </a:rPr>
              <a:t>Applications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5683" y="6190869"/>
            <a:ext cx="3836035" cy="119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</a:tabLst>
            </a:pPr>
            <a:r>
              <a:rPr sz="1800" spc="114" dirty="0">
                <a:solidFill>
                  <a:srgbClr val="E1E6E9"/>
                </a:solidFill>
                <a:latin typeface="Cambria"/>
                <a:cs typeface="Cambria"/>
              </a:rPr>
              <a:t>Referee</a:t>
            </a:r>
            <a:r>
              <a:rPr sz="1800" spc="-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14" dirty="0">
                <a:solidFill>
                  <a:srgbClr val="E1E6E9"/>
                </a:solidFill>
                <a:latin typeface="Cambria"/>
                <a:cs typeface="Cambria"/>
              </a:rPr>
              <a:t>assistance</a:t>
            </a:r>
            <a:endParaRPr sz="18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60"/>
              </a:spcBef>
              <a:buChar char="•"/>
              <a:tabLst>
                <a:tab pos="354965" algn="l"/>
              </a:tabLst>
            </a:pPr>
            <a:r>
              <a:rPr sz="1800" spc="105" dirty="0">
                <a:solidFill>
                  <a:srgbClr val="E1E6E9"/>
                </a:solidFill>
                <a:latin typeface="Cambria"/>
                <a:cs typeface="Cambria"/>
              </a:rPr>
              <a:t>Player</a:t>
            </a:r>
            <a:r>
              <a:rPr sz="1800" spc="5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35" dirty="0">
                <a:solidFill>
                  <a:srgbClr val="E1E6E9"/>
                </a:solidFill>
                <a:latin typeface="Cambria"/>
                <a:cs typeface="Cambria"/>
              </a:rPr>
              <a:t>performance</a:t>
            </a:r>
            <a:r>
              <a:rPr sz="1800" spc="6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10" dirty="0">
                <a:solidFill>
                  <a:srgbClr val="E1E6E9"/>
                </a:solidFill>
                <a:latin typeface="Cambria"/>
                <a:cs typeface="Cambria"/>
              </a:rPr>
              <a:t>evaluation</a:t>
            </a:r>
            <a:endParaRPr sz="18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365"/>
              </a:spcBef>
              <a:buChar char="•"/>
              <a:tabLst>
                <a:tab pos="354965" algn="l"/>
              </a:tabLst>
            </a:pPr>
            <a:r>
              <a:rPr sz="1800" spc="125" dirty="0">
                <a:solidFill>
                  <a:srgbClr val="E1E6E9"/>
                </a:solidFill>
                <a:latin typeface="Cambria"/>
                <a:cs typeface="Cambria"/>
              </a:rPr>
              <a:t>Tactical</a:t>
            </a:r>
            <a:r>
              <a:rPr sz="1800" spc="5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05" dirty="0">
                <a:solidFill>
                  <a:srgbClr val="E1E6E9"/>
                </a:solidFill>
                <a:latin typeface="Cambria"/>
                <a:cs typeface="Cambria"/>
              </a:rPr>
              <a:t>video</a:t>
            </a:r>
            <a:r>
              <a:rPr sz="1800" spc="4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800" spc="120" dirty="0">
                <a:solidFill>
                  <a:srgbClr val="E1E6E9"/>
                </a:solidFill>
                <a:latin typeface="Cambria"/>
                <a:cs typeface="Cambria"/>
              </a:rPr>
              <a:t>analysis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0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4598" y="712470"/>
            <a:ext cx="7585075" cy="13950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5500"/>
              </a:lnSpc>
            </a:pPr>
            <a:r>
              <a:rPr sz="4400" spc="265" dirty="0"/>
              <a:t>Literature</a:t>
            </a:r>
            <a:r>
              <a:rPr sz="4400" spc="50" dirty="0"/>
              <a:t> </a:t>
            </a:r>
            <a:r>
              <a:rPr sz="4400" spc="265" dirty="0"/>
              <a:t>Review: </a:t>
            </a:r>
            <a:r>
              <a:rPr sz="4400" spc="345" dirty="0"/>
              <a:t>Advancements</a:t>
            </a:r>
            <a:r>
              <a:rPr sz="4400" spc="45" dirty="0"/>
              <a:t> </a:t>
            </a:r>
            <a:r>
              <a:rPr sz="4400" spc="345" dirty="0"/>
              <a:t>in</a:t>
            </a:r>
            <a:r>
              <a:rPr sz="4400" spc="85" dirty="0"/>
              <a:t> </a:t>
            </a:r>
            <a:r>
              <a:rPr sz="4400" spc="300" dirty="0"/>
              <a:t>Detection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7120" y="2541917"/>
            <a:ext cx="562216" cy="5622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61591" y="2478404"/>
            <a:ext cx="6607175" cy="1190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45" dirty="0">
                <a:solidFill>
                  <a:srgbClr val="E1E6E9"/>
                </a:solidFill>
                <a:latin typeface="Cambria"/>
                <a:cs typeface="Cambria"/>
              </a:rPr>
              <a:t>Traditional</a:t>
            </a:r>
            <a:r>
              <a:rPr sz="2200" spc="9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2200" spc="175" dirty="0">
                <a:solidFill>
                  <a:srgbClr val="E1E6E9"/>
                </a:solidFill>
                <a:latin typeface="Cambria"/>
                <a:cs typeface="Cambria"/>
              </a:rPr>
              <a:t>Methods</a:t>
            </a: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640"/>
              </a:spcBef>
            </a:pPr>
            <a:r>
              <a:rPr sz="1750" spc="165" dirty="0">
                <a:solidFill>
                  <a:srgbClr val="E1E6E9"/>
                </a:solidFill>
                <a:latin typeface="Cambria"/>
                <a:cs typeface="Cambria"/>
              </a:rPr>
              <a:t>Manual</a:t>
            </a:r>
            <a:r>
              <a:rPr sz="1750" spc="3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25" dirty="0">
                <a:solidFill>
                  <a:srgbClr val="E1E6E9"/>
                </a:solidFill>
                <a:latin typeface="Cambria"/>
                <a:cs typeface="Cambria"/>
              </a:rPr>
              <a:t>labeling</a:t>
            </a:r>
            <a:r>
              <a:rPr sz="175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40" dirty="0">
                <a:solidFill>
                  <a:srgbClr val="E1E6E9"/>
                </a:solidFill>
                <a:latin typeface="Cambria"/>
                <a:cs typeface="Cambria"/>
              </a:rPr>
              <a:t>and</a:t>
            </a:r>
            <a:r>
              <a:rPr sz="175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60" dirty="0">
                <a:solidFill>
                  <a:srgbClr val="E1E6E9"/>
                </a:solidFill>
                <a:latin typeface="Cambria"/>
                <a:cs typeface="Cambria"/>
              </a:rPr>
              <a:t>image</a:t>
            </a:r>
            <a:r>
              <a:rPr sz="1750" spc="2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25" dirty="0">
                <a:solidFill>
                  <a:srgbClr val="E1E6E9"/>
                </a:solidFill>
                <a:latin typeface="Cambria"/>
                <a:cs typeface="Cambria"/>
              </a:rPr>
              <a:t>processing</a:t>
            </a:r>
            <a:r>
              <a:rPr sz="1750" spc="2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90" dirty="0">
                <a:solidFill>
                  <a:srgbClr val="E1E6E9"/>
                </a:solidFill>
                <a:latin typeface="Cambria"/>
                <a:cs typeface="Cambria"/>
              </a:rPr>
              <a:t>were</a:t>
            </a:r>
            <a:r>
              <a:rPr sz="1750" spc="1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75" dirty="0">
                <a:solidFill>
                  <a:srgbClr val="E1E6E9"/>
                </a:solidFill>
                <a:latin typeface="Cambria"/>
                <a:cs typeface="Cambria"/>
              </a:rPr>
              <a:t>common.</a:t>
            </a:r>
            <a:r>
              <a:rPr sz="1750" spc="2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20" dirty="0">
                <a:solidFill>
                  <a:srgbClr val="E1E6E9"/>
                </a:solidFill>
                <a:latin typeface="Cambria"/>
                <a:cs typeface="Cambria"/>
              </a:rPr>
              <a:t>These</a:t>
            </a:r>
            <a:endParaRPr sz="1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750" spc="150" dirty="0">
                <a:solidFill>
                  <a:srgbClr val="E1E6E9"/>
                </a:solidFill>
                <a:latin typeface="Cambria"/>
                <a:cs typeface="Cambria"/>
              </a:rPr>
              <a:t>methods</a:t>
            </a:r>
            <a:r>
              <a:rPr sz="1750" spc="4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10" dirty="0">
                <a:solidFill>
                  <a:srgbClr val="E1E6E9"/>
                </a:solidFill>
                <a:latin typeface="Cambria"/>
                <a:cs typeface="Cambria"/>
              </a:rPr>
              <a:t>lacked</a:t>
            </a:r>
            <a:r>
              <a:rPr sz="1750" spc="4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10" dirty="0">
                <a:solidFill>
                  <a:srgbClr val="E1E6E9"/>
                </a:solidFill>
                <a:latin typeface="Cambria"/>
                <a:cs typeface="Cambria"/>
              </a:rPr>
              <a:t>efficiency.</a:t>
            </a:r>
            <a:endParaRPr sz="175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7120" y="4422406"/>
            <a:ext cx="562216" cy="5622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561591" y="4358716"/>
            <a:ext cx="5411470" cy="1191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45" dirty="0">
                <a:solidFill>
                  <a:srgbClr val="E1E6E9"/>
                </a:solidFill>
                <a:latin typeface="Cambria"/>
                <a:cs typeface="Cambria"/>
              </a:rPr>
              <a:t>Deep</a:t>
            </a:r>
            <a:r>
              <a:rPr sz="2200" spc="4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2200" spc="175" dirty="0">
                <a:solidFill>
                  <a:srgbClr val="E1E6E9"/>
                </a:solidFill>
                <a:latin typeface="Cambria"/>
                <a:cs typeface="Cambria"/>
              </a:rPr>
              <a:t>Learning</a:t>
            </a:r>
            <a:r>
              <a:rPr sz="2200" spc="7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2200" spc="145" dirty="0">
                <a:solidFill>
                  <a:srgbClr val="E1E6E9"/>
                </a:solidFill>
                <a:latin typeface="Cambria"/>
                <a:cs typeface="Cambria"/>
              </a:rPr>
              <a:t>Evolution</a:t>
            </a:r>
            <a:endParaRPr sz="2200">
              <a:latin typeface="Cambria"/>
              <a:cs typeface="Cambria"/>
            </a:endParaRPr>
          </a:p>
          <a:p>
            <a:pPr marL="12700" marR="5080">
              <a:lnSpc>
                <a:spcPct val="133100"/>
              </a:lnSpc>
              <a:spcBef>
                <a:spcPts val="950"/>
              </a:spcBef>
            </a:pPr>
            <a:r>
              <a:rPr sz="1750" spc="170" dirty="0">
                <a:solidFill>
                  <a:srgbClr val="E1E6E9"/>
                </a:solidFill>
                <a:latin typeface="Cambria"/>
                <a:cs typeface="Cambria"/>
              </a:rPr>
              <a:t>CNNs</a:t>
            </a:r>
            <a:r>
              <a:rPr sz="1750" spc="2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40" dirty="0">
                <a:solidFill>
                  <a:srgbClr val="E1E6E9"/>
                </a:solidFill>
                <a:latin typeface="Cambria"/>
                <a:cs typeface="Cambria"/>
              </a:rPr>
              <a:t>and</a:t>
            </a:r>
            <a:r>
              <a:rPr sz="1750" spc="4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35" dirty="0">
                <a:solidFill>
                  <a:srgbClr val="E1E6E9"/>
                </a:solidFill>
                <a:latin typeface="Cambria"/>
                <a:cs typeface="Cambria"/>
              </a:rPr>
              <a:t>YOLO</a:t>
            </a:r>
            <a:r>
              <a:rPr sz="175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40" dirty="0">
                <a:solidFill>
                  <a:srgbClr val="E1E6E9"/>
                </a:solidFill>
                <a:latin typeface="Cambria"/>
                <a:cs typeface="Cambria"/>
              </a:rPr>
              <a:t>models</a:t>
            </a:r>
            <a:r>
              <a:rPr sz="1750" spc="3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20" dirty="0">
                <a:solidFill>
                  <a:srgbClr val="E1E6E9"/>
                </a:solidFill>
                <a:latin typeface="Cambria"/>
                <a:cs typeface="Cambria"/>
              </a:rPr>
              <a:t>revolutionized</a:t>
            </a:r>
            <a:r>
              <a:rPr sz="175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05" dirty="0">
                <a:solidFill>
                  <a:srgbClr val="E1E6E9"/>
                </a:solidFill>
                <a:latin typeface="Cambria"/>
                <a:cs typeface="Cambria"/>
              </a:rPr>
              <a:t>detection. </a:t>
            </a:r>
            <a:r>
              <a:rPr sz="1750" spc="135" dirty="0">
                <a:solidFill>
                  <a:srgbClr val="E1E6E9"/>
                </a:solidFill>
                <a:latin typeface="Cambria"/>
                <a:cs typeface="Cambria"/>
              </a:rPr>
              <a:t>Performance</a:t>
            </a:r>
            <a:r>
              <a:rPr sz="175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40" dirty="0">
                <a:solidFill>
                  <a:srgbClr val="E1E6E9"/>
                </a:solidFill>
                <a:latin typeface="Cambria"/>
                <a:cs typeface="Cambria"/>
              </a:rPr>
              <a:t>and</a:t>
            </a:r>
            <a:r>
              <a:rPr sz="1750" spc="4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10" dirty="0">
                <a:solidFill>
                  <a:srgbClr val="E1E6E9"/>
                </a:solidFill>
                <a:latin typeface="Cambria"/>
                <a:cs typeface="Cambria"/>
              </a:rPr>
              <a:t>speed</a:t>
            </a:r>
            <a:r>
              <a:rPr sz="1750" spc="4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25" dirty="0">
                <a:solidFill>
                  <a:srgbClr val="E1E6E9"/>
                </a:solidFill>
                <a:latin typeface="Cambria"/>
                <a:cs typeface="Cambria"/>
              </a:rPr>
              <a:t>improved</a:t>
            </a:r>
            <a:r>
              <a:rPr sz="1750" spc="2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20" dirty="0">
                <a:solidFill>
                  <a:srgbClr val="E1E6E9"/>
                </a:solidFill>
                <a:latin typeface="Cambria"/>
                <a:cs typeface="Cambria"/>
              </a:rPr>
              <a:t>significantly.</a:t>
            </a:r>
            <a:endParaRPr sz="1750">
              <a:latin typeface="Cambria"/>
              <a:cs typeface="Cambri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7120" y="6302895"/>
            <a:ext cx="562216" cy="562216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561591" y="6240017"/>
            <a:ext cx="6320790" cy="1190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135" dirty="0">
                <a:solidFill>
                  <a:srgbClr val="E1E6E9"/>
                </a:solidFill>
                <a:latin typeface="Cambria"/>
                <a:cs typeface="Cambria"/>
              </a:rPr>
              <a:t>Related</a:t>
            </a:r>
            <a:r>
              <a:rPr sz="2200" spc="6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2200" spc="120" dirty="0">
                <a:solidFill>
                  <a:srgbClr val="E1E6E9"/>
                </a:solidFill>
                <a:latin typeface="Cambria"/>
                <a:cs typeface="Cambria"/>
              </a:rPr>
              <a:t>Work</a:t>
            </a:r>
            <a:endParaRPr sz="2200">
              <a:latin typeface="Cambria"/>
              <a:cs typeface="Cambria"/>
            </a:endParaRPr>
          </a:p>
          <a:p>
            <a:pPr marL="12700" marR="5080">
              <a:lnSpc>
                <a:spcPct val="133100"/>
              </a:lnSpc>
              <a:spcBef>
                <a:spcPts val="944"/>
              </a:spcBef>
            </a:pPr>
            <a:r>
              <a:rPr sz="1750" spc="135" dirty="0">
                <a:solidFill>
                  <a:srgbClr val="E1E6E9"/>
                </a:solidFill>
                <a:latin typeface="Cambria"/>
                <a:cs typeface="Cambria"/>
              </a:rPr>
              <a:t>YOLO</a:t>
            </a:r>
            <a:r>
              <a:rPr sz="1750" spc="2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45" dirty="0">
                <a:solidFill>
                  <a:srgbClr val="E1E6E9"/>
                </a:solidFill>
                <a:latin typeface="Cambria"/>
                <a:cs typeface="Cambria"/>
              </a:rPr>
              <a:t>has</a:t>
            </a:r>
            <a:r>
              <a:rPr sz="1750" spc="5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14" dirty="0">
                <a:solidFill>
                  <a:srgbClr val="E1E6E9"/>
                </a:solidFill>
                <a:latin typeface="Cambria"/>
                <a:cs typeface="Cambria"/>
              </a:rPr>
              <a:t>been</a:t>
            </a:r>
            <a:r>
              <a:rPr sz="1750" spc="3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10" dirty="0">
                <a:solidFill>
                  <a:srgbClr val="E1E6E9"/>
                </a:solidFill>
                <a:latin typeface="Cambria"/>
                <a:cs typeface="Cambria"/>
              </a:rPr>
              <a:t>applied</a:t>
            </a:r>
            <a:r>
              <a:rPr sz="1750" spc="3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35" dirty="0">
                <a:solidFill>
                  <a:srgbClr val="E1E6E9"/>
                </a:solidFill>
                <a:latin typeface="Cambria"/>
                <a:cs typeface="Cambria"/>
              </a:rPr>
              <a:t>in</a:t>
            </a:r>
            <a:r>
              <a:rPr sz="175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20" dirty="0">
                <a:solidFill>
                  <a:srgbClr val="E1E6E9"/>
                </a:solidFill>
                <a:latin typeface="Cambria"/>
                <a:cs typeface="Cambria"/>
              </a:rPr>
              <a:t>other</a:t>
            </a:r>
            <a:r>
              <a:rPr sz="1750" spc="2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14" dirty="0">
                <a:solidFill>
                  <a:srgbClr val="E1E6E9"/>
                </a:solidFill>
                <a:latin typeface="Cambria"/>
                <a:cs typeface="Cambria"/>
              </a:rPr>
              <a:t>sports</a:t>
            </a:r>
            <a:r>
              <a:rPr sz="1750" spc="2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05" dirty="0">
                <a:solidFill>
                  <a:srgbClr val="E1E6E9"/>
                </a:solidFill>
                <a:latin typeface="Cambria"/>
                <a:cs typeface="Cambria"/>
              </a:rPr>
              <a:t>like</a:t>
            </a:r>
            <a:r>
              <a:rPr sz="1750" spc="3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10" dirty="0">
                <a:solidFill>
                  <a:srgbClr val="E1E6E9"/>
                </a:solidFill>
                <a:latin typeface="Cambria"/>
                <a:cs typeface="Cambria"/>
              </a:rPr>
              <a:t>basketball.</a:t>
            </a:r>
            <a:r>
              <a:rPr sz="175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85" dirty="0">
                <a:solidFill>
                  <a:srgbClr val="E1E6E9"/>
                </a:solidFill>
                <a:latin typeface="Cambria"/>
                <a:cs typeface="Cambria"/>
              </a:rPr>
              <a:t>Our </a:t>
            </a:r>
            <a:r>
              <a:rPr sz="1750" spc="140" dirty="0">
                <a:solidFill>
                  <a:srgbClr val="E1E6E9"/>
                </a:solidFill>
                <a:latin typeface="Cambria"/>
                <a:cs typeface="Cambria"/>
              </a:rPr>
              <a:t>focus</a:t>
            </a:r>
            <a:r>
              <a:rPr sz="1750" spc="2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10" dirty="0">
                <a:solidFill>
                  <a:srgbClr val="E1E6E9"/>
                </a:solidFill>
                <a:latin typeface="Cambria"/>
                <a:cs typeface="Cambria"/>
              </a:rPr>
              <a:t>is</a:t>
            </a:r>
            <a:r>
              <a:rPr sz="175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40" dirty="0">
                <a:solidFill>
                  <a:srgbClr val="E1E6E9"/>
                </a:solidFill>
                <a:latin typeface="Cambria"/>
                <a:cs typeface="Cambria"/>
              </a:rPr>
              <a:t>expanding</a:t>
            </a:r>
            <a:r>
              <a:rPr sz="1750" spc="2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30" dirty="0">
                <a:solidFill>
                  <a:srgbClr val="E1E6E9"/>
                </a:solidFill>
                <a:latin typeface="Cambria"/>
                <a:cs typeface="Cambria"/>
              </a:rPr>
              <a:t>this</a:t>
            </a:r>
            <a:r>
              <a:rPr sz="1750" spc="4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25" dirty="0">
                <a:solidFill>
                  <a:srgbClr val="E1E6E9"/>
                </a:solidFill>
                <a:latin typeface="Cambria"/>
                <a:cs typeface="Cambria"/>
              </a:rPr>
              <a:t>to</a:t>
            </a:r>
            <a:r>
              <a:rPr sz="175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50" spc="110" dirty="0">
                <a:solidFill>
                  <a:srgbClr val="E1E6E9"/>
                </a:solidFill>
                <a:latin typeface="Cambria"/>
                <a:cs typeface="Cambria"/>
              </a:rPr>
              <a:t>football.</a:t>
            </a:r>
            <a:endParaRPr sz="17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48" y="-1"/>
            <a:ext cx="5486400" cy="82295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ts val="4690"/>
              </a:lnSpc>
              <a:spcBef>
                <a:spcPts val="20"/>
              </a:spcBef>
            </a:pPr>
            <a:r>
              <a:rPr spc="310" dirty="0"/>
              <a:t>Methodology</a:t>
            </a:r>
            <a:r>
              <a:rPr spc="60" dirty="0"/>
              <a:t> </a:t>
            </a:r>
            <a:r>
              <a:rPr spc="300" dirty="0"/>
              <a:t>Formulation:</a:t>
            </a:r>
            <a:r>
              <a:rPr spc="60" dirty="0"/>
              <a:t> </a:t>
            </a:r>
            <a:r>
              <a:rPr spc="215" dirty="0"/>
              <a:t>Our </a:t>
            </a:r>
            <a:r>
              <a:rPr spc="260" dirty="0"/>
              <a:t>Approach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53150" y="2321686"/>
            <a:ext cx="952500" cy="506256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140" dirty="0"/>
              <a:t>Technologies</a:t>
            </a:r>
            <a:r>
              <a:rPr spc="70" dirty="0"/>
              <a:t> </a:t>
            </a:r>
            <a:r>
              <a:rPr spc="105" dirty="0"/>
              <a:t>Used</a:t>
            </a: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1500" spc="110" dirty="0"/>
              <a:t>YOLOv5,</a:t>
            </a:r>
            <a:r>
              <a:rPr sz="1500" spc="25" dirty="0"/>
              <a:t> </a:t>
            </a:r>
            <a:r>
              <a:rPr sz="1500" spc="120" dirty="0"/>
              <a:t>OpenCV,</a:t>
            </a:r>
            <a:r>
              <a:rPr sz="1500" dirty="0"/>
              <a:t> </a:t>
            </a:r>
            <a:r>
              <a:rPr sz="1500" spc="110" dirty="0"/>
              <a:t>Roboflow,</a:t>
            </a:r>
            <a:r>
              <a:rPr sz="1500" spc="30" dirty="0"/>
              <a:t> </a:t>
            </a:r>
            <a:r>
              <a:rPr sz="1500" spc="110" dirty="0"/>
              <a:t>and</a:t>
            </a:r>
            <a:r>
              <a:rPr sz="1500" spc="35" dirty="0"/>
              <a:t> </a:t>
            </a:r>
            <a:r>
              <a:rPr sz="1500" spc="120" dirty="0"/>
              <a:t>Python</a:t>
            </a:r>
            <a:r>
              <a:rPr sz="1500" spc="35" dirty="0"/>
              <a:t> </a:t>
            </a:r>
            <a:r>
              <a:rPr sz="1500" spc="140" dirty="0"/>
              <a:t>form</a:t>
            </a:r>
            <a:r>
              <a:rPr sz="1500" spc="30" dirty="0"/>
              <a:t> </a:t>
            </a:r>
            <a:r>
              <a:rPr sz="1500" spc="110" dirty="0"/>
              <a:t>the</a:t>
            </a:r>
            <a:r>
              <a:rPr sz="1500" spc="20" dirty="0"/>
              <a:t> </a:t>
            </a:r>
            <a:r>
              <a:rPr sz="1500" spc="80" dirty="0"/>
              <a:t>base.</a:t>
            </a:r>
            <a:endParaRPr sz="1500"/>
          </a:p>
          <a:p>
            <a:pPr>
              <a:lnSpc>
                <a:spcPct val="100000"/>
              </a:lnSpc>
            </a:pPr>
            <a:endParaRPr sz="1500"/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500"/>
          </a:p>
          <a:p>
            <a:pPr marL="12700">
              <a:lnSpc>
                <a:spcPct val="100000"/>
              </a:lnSpc>
            </a:pPr>
            <a:r>
              <a:rPr spc="110" dirty="0"/>
              <a:t>Pipeline</a:t>
            </a: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Char char="•"/>
              <a:tabLst>
                <a:tab pos="354965" algn="l"/>
              </a:tabLst>
            </a:pPr>
            <a:r>
              <a:rPr sz="1500" spc="100" dirty="0"/>
              <a:t>Dataset</a:t>
            </a:r>
            <a:r>
              <a:rPr sz="1500" spc="25" dirty="0"/>
              <a:t> </a:t>
            </a:r>
            <a:r>
              <a:rPr sz="1500" spc="100" dirty="0"/>
              <a:t>collection</a:t>
            </a:r>
            <a:r>
              <a:rPr sz="1500" spc="30" dirty="0"/>
              <a:t> </a:t>
            </a:r>
            <a:r>
              <a:rPr sz="1500" spc="110" dirty="0"/>
              <a:t>and</a:t>
            </a:r>
            <a:r>
              <a:rPr sz="1500" spc="35" dirty="0"/>
              <a:t> </a:t>
            </a:r>
            <a:r>
              <a:rPr sz="1500" spc="95" dirty="0"/>
              <a:t>preprocessing</a:t>
            </a:r>
            <a:r>
              <a:rPr sz="1500" spc="30" dirty="0"/>
              <a:t> </a:t>
            </a:r>
            <a:r>
              <a:rPr sz="1500" spc="95" dirty="0"/>
              <a:t>via</a:t>
            </a:r>
            <a:r>
              <a:rPr sz="1500" spc="10" dirty="0"/>
              <a:t> </a:t>
            </a:r>
            <a:r>
              <a:rPr sz="1500" spc="90" dirty="0"/>
              <a:t>Roboflow</a:t>
            </a:r>
            <a:endParaRPr sz="1500"/>
          </a:p>
          <a:p>
            <a:pPr marL="354965" indent="-342265">
              <a:lnSpc>
                <a:spcPct val="100000"/>
              </a:lnSpc>
              <a:spcBef>
                <a:spcPts val="1125"/>
              </a:spcBef>
              <a:buChar char="•"/>
              <a:tabLst>
                <a:tab pos="354965" algn="l"/>
              </a:tabLst>
            </a:pPr>
            <a:r>
              <a:rPr sz="1500" spc="100" dirty="0"/>
              <a:t>Dataset</a:t>
            </a:r>
            <a:r>
              <a:rPr sz="1500" spc="20" dirty="0"/>
              <a:t> </a:t>
            </a:r>
            <a:r>
              <a:rPr sz="1500" spc="120" dirty="0"/>
              <a:t>Link</a:t>
            </a:r>
            <a:r>
              <a:rPr sz="1500" spc="25" dirty="0"/>
              <a:t> </a:t>
            </a:r>
            <a:r>
              <a:rPr sz="1500" spc="114" dirty="0"/>
              <a:t>:</a:t>
            </a:r>
            <a:r>
              <a:rPr sz="1500" spc="20" dirty="0"/>
              <a:t> </a:t>
            </a:r>
            <a:r>
              <a:rPr sz="1500" u="sng" spc="85" dirty="0">
                <a:solidFill>
                  <a:srgbClr val="5F9DFF"/>
                </a:solidFill>
                <a:uFill>
                  <a:solidFill>
                    <a:srgbClr val="5F9DFF"/>
                  </a:solidFill>
                </a:uFill>
                <a:hlinkClick r:id="rId4"/>
              </a:rPr>
              <a:t>https://universe.roboflow.com/roboflow-</a:t>
            </a:r>
            <a:endParaRPr sz="1500"/>
          </a:p>
          <a:p>
            <a:pPr marL="355600">
              <a:lnSpc>
                <a:spcPct val="100000"/>
              </a:lnSpc>
              <a:spcBef>
                <a:spcPts val="605"/>
              </a:spcBef>
            </a:pPr>
            <a:r>
              <a:rPr sz="1500" u="sng" spc="105" dirty="0">
                <a:solidFill>
                  <a:srgbClr val="5F9DFF"/>
                </a:solidFill>
                <a:uFill>
                  <a:solidFill>
                    <a:srgbClr val="5F9DFF"/>
                  </a:solidFill>
                </a:uFill>
                <a:hlinkClick r:id="rId4"/>
              </a:rPr>
              <a:t>jvuqo/football-</a:t>
            </a:r>
            <a:r>
              <a:rPr sz="1500" u="sng" spc="130" dirty="0">
                <a:solidFill>
                  <a:srgbClr val="5F9DFF"/>
                </a:solidFill>
                <a:uFill>
                  <a:solidFill>
                    <a:srgbClr val="5F9DFF"/>
                  </a:solidFill>
                </a:uFill>
                <a:hlinkClick r:id="rId4"/>
              </a:rPr>
              <a:t>players-detection-</a:t>
            </a:r>
            <a:r>
              <a:rPr sz="1500" u="sng" spc="-10" dirty="0">
                <a:solidFill>
                  <a:srgbClr val="5F9DFF"/>
                </a:solidFill>
                <a:uFill>
                  <a:solidFill>
                    <a:srgbClr val="5F9DFF"/>
                  </a:solidFill>
                </a:uFill>
                <a:hlinkClick r:id="rId4"/>
              </a:rPr>
              <a:t>3zvbc/dataset/1</a:t>
            </a:r>
            <a:endParaRPr sz="1500"/>
          </a:p>
          <a:p>
            <a:pPr marL="354965" indent="-342265">
              <a:lnSpc>
                <a:spcPct val="100000"/>
              </a:lnSpc>
              <a:spcBef>
                <a:spcPts val="1125"/>
              </a:spcBef>
              <a:buChar char="•"/>
              <a:tabLst>
                <a:tab pos="354965" algn="l"/>
              </a:tabLst>
            </a:pPr>
            <a:r>
              <a:rPr sz="1500" spc="114" dirty="0"/>
              <a:t>Training</a:t>
            </a:r>
            <a:r>
              <a:rPr sz="1500" spc="30" dirty="0"/>
              <a:t> </a:t>
            </a:r>
            <a:r>
              <a:rPr sz="1500" spc="120" dirty="0"/>
              <a:t>using</a:t>
            </a:r>
            <a:r>
              <a:rPr sz="1500" spc="50" dirty="0"/>
              <a:t> </a:t>
            </a:r>
            <a:r>
              <a:rPr sz="1500" spc="110" dirty="0"/>
              <a:t>YOLO</a:t>
            </a:r>
            <a:r>
              <a:rPr sz="1500" spc="25" dirty="0"/>
              <a:t> </a:t>
            </a:r>
            <a:r>
              <a:rPr sz="1500" spc="85" dirty="0"/>
              <a:t>(object</a:t>
            </a:r>
            <a:r>
              <a:rPr sz="1500" spc="45" dirty="0"/>
              <a:t> </a:t>
            </a:r>
            <a:r>
              <a:rPr sz="1500" spc="80" dirty="0"/>
              <a:t>detection)</a:t>
            </a:r>
            <a:endParaRPr sz="1500"/>
          </a:p>
          <a:p>
            <a:pPr marL="354965" indent="-342265">
              <a:lnSpc>
                <a:spcPct val="100000"/>
              </a:lnSpc>
              <a:spcBef>
                <a:spcPts val="1125"/>
              </a:spcBef>
              <a:buChar char="•"/>
              <a:tabLst>
                <a:tab pos="354965" algn="l"/>
              </a:tabLst>
            </a:pPr>
            <a:r>
              <a:rPr sz="1500" spc="170" dirty="0"/>
              <a:t>Post-</a:t>
            </a:r>
            <a:r>
              <a:rPr sz="1500" spc="105" dirty="0"/>
              <a:t>processing</a:t>
            </a:r>
            <a:r>
              <a:rPr sz="1500" spc="40" dirty="0"/>
              <a:t> </a:t>
            </a:r>
            <a:r>
              <a:rPr sz="1500" spc="110" dirty="0"/>
              <a:t>and</a:t>
            </a:r>
            <a:r>
              <a:rPr sz="1500" spc="30" dirty="0"/>
              <a:t> </a:t>
            </a:r>
            <a:r>
              <a:rPr sz="1500" spc="105" dirty="0"/>
              <a:t>visualization</a:t>
            </a:r>
            <a:r>
              <a:rPr sz="1500" spc="30" dirty="0"/>
              <a:t> </a:t>
            </a:r>
            <a:r>
              <a:rPr sz="1500" spc="120" dirty="0"/>
              <a:t>using</a:t>
            </a:r>
            <a:r>
              <a:rPr sz="1500" spc="40" dirty="0"/>
              <a:t> </a:t>
            </a:r>
            <a:r>
              <a:rPr sz="1500" spc="95" dirty="0"/>
              <a:t>OpenCV</a:t>
            </a:r>
            <a:endParaRPr sz="1500"/>
          </a:p>
          <a:p>
            <a:pPr>
              <a:lnSpc>
                <a:spcPct val="100000"/>
              </a:lnSpc>
              <a:spcBef>
                <a:spcPts val="1420"/>
              </a:spcBef>
            </a:pPr>
            <a:endParaRPr sz="1500"/>
          </a:p>
          <a:p>
            <a:pPr marL="12700">
              <a:lnSpc>
                <a:spcPct val="100000"/>
              </a:lnSpc>
            </a:pPr>
            <a:r>
              <a:rPr spc="125" dirty="0"/>
              <a:t>Tools</a:t>
            </a:r>
          </a:p>
          <a:p>
            <a:pPr marL="12700" marR="5080">
              <a:lnSpc>
                <a:spcPct val="133400"/>
              </a:lnSpc>
              <a:spcBef>
                <a:spcPts val="844"/>
              </a:spcBef>
            </a:pPr>
            <a:r>
              <a:rPr sz="1500" spc="130" dirty="0"/>
              <a:t>Python,</a:t>
            </a:r>
            <a:r>
              <a:rPr sz="1500" spc="35" dirty="0"/>
              <a:t> </a:t>
            </a:r>
            <a:r>
              <a:rPr sz="1500" spc="120" dirty="0"/>
              <a:t>PyTorch,</a:t>
            </a:r>
            <a:r>
              <a:rPr sz="1500" spc="25" dirty="0"/>
              <a:t> </a:t>
            </a:r>
            <a:r>
              <a:rPr sz="1500" spc="120" dirty="0"/>
              <a:t>Google</a:t>
            </a:r>
            <a:r>
              <a:rPr sz="1500" spc="25" dirty="0"/>
              <a:t> </a:t>
            </a:r>
            <a:r>
              <a:rPr sz="1500" spc="80" dirty="0"/>
              <a:t>Colab/Jupyter</a:t>
            </a:r>
            <a:r>
              <a:rPr sz="1500" dirty="0"/>
              <a:t> </a:t>
            </a:r>
            <a:r>
              <a:rPr sz="1500" spc="110" dirty="0"/>
              <a:t>Notebook</a:t>
            </a:r>
            <a:r>
              <a:rPr sz="1500" spc="40" dirty="0"/>
              <a:t> </a:t>
            </a:r>
            <a:r>
              <a:rPr sz="1500" spc="90" dirty="0"/>
              <a:t>enabled</a:t>
            </a:r>
            <a:r>
              <a:rPr sz="1500" spc="35" dirty="0"/>
              <a:t> </a:t>
            </a:r>
            <a:r>
              <a:rPr sz="1500" spc="75" dirty="0"/>
              <a:t>rapid </a:t>
            </a:r>
            <a:r>
              <a:rPr sz="1500" spc="95" dirty="0"/>
              <a:t>development.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103" y="2094992"/>
            <a:ext cx="8976995" cy="764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50" spc="345" dirty="0"/>
              <a:t>Results:</a:t>
            </a:r>
            <a:r>
              <a:rPr sz="4850" spc="100" dirty="0"/>
              <a:t> </a:t>
            </a:r>
            <a:r>
              <a:rPr sz="4850" spc="335" dirty="0"/>
              <a:t>Dataset</a:t>
            </a:r>
            <a:r>
              <a:rPr sz="4850" spc="100" dirty="0"/>
              <a:t> </a:t>
            </a:r>
            <a:r>
              <a:rPr sz="4850" spc="370" dirty="0"/>
              <a:t>Composition</a:t>
            </a:r>
            <a:endParaRPr sz="4850"/>
          </a:p>
        </p:txBody>
      </p:sp>
      <p:sp>
        <p:nvSpPr>
          <p:cNvPr id="3" name="object 3"/>
          <p:cNvSpPr txBox="1"/>
          <p:nvPr/>
        </p:nvSpPr>
        <p:spPr>
          <a:xfrm>
            <a:off x="851103" y="3500120"/>
            <a:ext cx="4097654" cy="2464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25" dirty="0">
                <a:solidFill>
                  <a:srgbClr val="F5EFEF"/>
                </a:solidFill>
                <a:latin typeface="Cambria"/>
                <a:cs typeface="Cambria"/>
              </a:rPr>
              <a:t>Image</a:t>
            </a:r>
            <a:r>
              <a:rPr sz="2400" spc="55" dirty="0">
                <a:solidFill>
                  <a:srgbClr val="F5EFEF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F5EFEF"/>
                </a:solidFill>
                <a:latin typeface="Cambria"/>
                <a:cs typeface="Cambria"/>
              </a:rPr>
              <a:t>Distribution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2670"/>
              </a:spcBef>
              <a:buChar char="•"/>
              <a:tabLst>
                <a:tab pos="354965" algn="l"/>
              </a:tabLst>
            </a:pPr>
            <a:r>
              <a:rPr sz="1900" spc="135" dirty="0">
                <a:solidFill>
                  <a:srgbClr val="E1E6E9"/>
                </a:solidFill>
                <a:latin typeface="Cambria"/>
                <a:cs typeface="Cambria"/>
              </a:rPr>
              <a:t>Total</a:t>
            </a:r>
            <a:r>
              <a:rPr sz="1900" spc="5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60" dirty="0">
                <a:solidFill>
                  <a:srgbClr val="E1E6E9"/>
                </a:solidFill>
                <a:latin typeface="Cambria"/>
                <a:cs typeface="Cambria"/>
              </a:rPr>
              <a:t>images:</a:t>
            </a:r>
            <a:r>
              <a:rPr sz="1900" spc="5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10" dirty="0">
                <a:solidFill>
                  <a:srgbClr val="E1E6E9"/>
                </a:solidFill>
                <a:latin typeface="Cambria"/>
                <a:cs typeface="Cambria"/>
              </a:rPr>
              <a:t>663</a:t>
            </a:r>
            <a:endParaRPr sz="19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510"/>
              </a:spcBef>
              <a:buChar char="•"/>
              <a:tabLst>
                <a:tab pos="354965" algn="l"/>
              </a:tabLst>
            </a:pPr>
            <a:r>
              <a:rPr sz="1900" spc="145" dirty="0">
                <a:solidFill>
                  <a:srgbClr val="E1E6E9"/>
                </a:solidFill>
                <a:latin typeface="Cambria"/>
                <a:cs typeface="Cambria"/>
              </a:rPr>
              <a:t>Training</a:t>
            </a:r>
            <a:r>
              <a:rPr sz="1900" spc="7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Cambria"/>
                <a:cs typeface="Cambria"/>
              </a:rPr>
              <a:t>set:</a:t>
            </a:r>
            <a:r>
              <a:rPr sz="1900" spc="7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dirty="0">
                <a:solidFill>
                  <a:srgbClr val="E1E6E9"/>
                </a:solidFill>
                <a:latin typeface="Cambria"/>
                <a:cs typeface="Cambria"/>
              </a:rPr>
              <a:t>612</a:t>
            </a:r>
            <a:r>
              <a:rPr sz="1900" spc="6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65" dirty="0">
                <a:solidFill>
                  <a:srgbClr val="E1E6E9"/>
                </a:solidFill>
                <a:latin typeface="Cambria"/>
                <a:cs typeface="Cambria"/>
              </a:rPr>
              <a:t>images</a:t>
            </a:r>
            <a:r>
              <a:rPr sz="1900" spc="7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30" dirty="0">
                <a:solidFill>
                  <a:srgbClr val="E1E6E9"/>
                </a:solidFill>
                <a:latin typeface="Cambria"/>
                <a:cs typeface="Cambria"/>
              </a:rPr>
              <a:t>(92%)</a:t>
            </a:r>
            <a:endParaRPr sz="19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510"/>
              </a:spcBef>
              <a:buChar char="•"/>
              <a:tabLst>
                <a:tab pos="354965" algn="l"/>
              </a:tabLst>
            </a:pPr>
            <a:r>
              <a:rPr sz="1900" spc="130" dirty="0">
                <a:solidFill>
                  <a:srgbClr val="E1E6E9"/>
                </a:solidFill>
                <a:latin typeface="Cambria"/>
                <a:cs typeface="Cambria"/>
              </a:rPr>
              <a:t>Validation</a:t>
            </a:r>
            <a:r>
              <a:rPr sz="1900" spc="5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Cambria"/>
                <a:cs typeface="Cambria"/>
              </a:rPr>
              <a:t>set:</a:t>
            </a:r>
            <a:r>
              <a:rPr sz="1900" spc="5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70" dirty="0">
                <a:solidFill>
                  <a:srgbClr val="E1E6E9"/>
                </a:solidFill>
                <a:latin typeface="Cambria"/>
                <a:cs typeface="Cambria"/>
              </a:rPr>
              <a:t>38</a:t>
            </a:r>
            <a:r>
              <a:rPr sz="1900" spc="4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65" dirty="0">
                <a:solidFill>
                  <a:srgbClr val="E1E6E9"/>
                </a:solidFill>
                <a:latin typeface="Cambria"/>
                <a:cs typeface="Cambria"/>
              </a:rPr>
              <a:t>images</a:t>
            </a:r>
            <a:r>
              <a:rPr sz="1900" spc="5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35" dirty="0">
                <a:solidFill>
                  <a:srgbClr val="E1E6E9"/>
                </a:solidFill>
                <a:latin typeface="Cambria"/>
                <a:cs typeface="Cambria"/>
              </a:rPr>
              <a:t>(6%)</a:t>
            </a:r>
            <a:endParaRPr sz="19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510"/>
              </a:spcBef>
              <a:buChar char="•"/>
              <a:tabLst>
                <a:tab pos="354965" algn="l"/>
              </a:tabLst>
            </a:pPr>
            <a:r>
              <a:rPr sz="1900" spc="140" dirty="0">
                <a:solidFill>
                  <a:srgbClr val="E1E6E9"/>
                </a:solidFill>
                <a:latin typeface="Cambria"/>
                <a:cs typeface="Cambria"/>
              </a:rPr>
              <a:t>Test</a:t>
            </a:r>
            <a:r>
              <a:rPr sz="190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Cambria"/>
                <a:cs typeface="Cambria"/>
              </a:rPr>
              <a:t>set:</a:t>
            </a:r>
            <a:r>
              <a:rPr sz="190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-85" dirty="0">
                <a:solidFill>
                  <a:srgbClr val="E1E6E9"/>
                </a:solidFill>
                <a:latin typeface="Cambria"/>
                <a:cs typeface="Cambria"/>
              </a:rPr>
              <a:t>13</a:t>
            </a:r>
            <a:r>
              <a:rPr sz="1900" spc="3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65" dirty="0">
                <a:solidFill>
                  <a:srgbClr val="E1E6E9"/>
                </a:solidFill>
                <a:latin typeface="Cambria"/>
                <a:cs typeface="Cambria"/>
              </a:rPr>
              <a:t>images</a:t>
            </a:r>
            <a:r>
              <a:rPr sz="190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05" dirty="0">
                <a:solidFill>
                  <a:srgbClr val="E1E6E9"/>
                </a:solidFill>
                <a:latin typeface="Cambria"/>
                <a:cs typeface="Cambria"/>
              </a:rPr>
              <a:t>(2%)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11871" y="3500120"/>
            <a:ext cx="5671820" cy="150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75" dirty="0">
                <a:solidFill>
                  <a:srgbClr val="F5EFEF"/>
                </a:solidFill>
                <a:latin typeface="Cambria"/>
                <a:cs typeface="Cambria"/>
              </a:rPr>
              <a:t>Class</a:t>
            </a:r>
            <a:r>
              <a:rPr sz="2400" spc="50" dirty="0">
                <a:solidFill>
                  <a:srgbClr val="F5EFEF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solidFill>
                  <a:srgbClr val="F5EFEF"/>
                </a:solidFill>
                <a:latin typeface="Cambria"/>
                <a:cs typeface="Cambria"/>
              </a:rPr>
              <a:t>Overview</a:t>
            </a:r>
            <a:endParaRPr sz="24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2670"/>
              </a:spcBef>
              <a:buChar char="•"/>
              <a:tabLst>
                <a:tab pos="354965" algn="l"/>
              </a:tabLst>
            </a:pPr>
            <a:r>
              <a:rPr sz="1900" spc="135" dirty="0">
                <a:solidFill>
                  <a:srgbClr val="E1E6E9"/>
                </a:solidFill>
                <a:latin typeface="Cambria"/>
                <a:cs typeface="Cambria"/>
              </a:rPr>
              <a:t>Classes:</a:t>
            </a:r>
            <a:r>
              <a:rPr sz="1900" spc="5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65" dirty="0">
                <a:solidFill>
                  <a:srgbClr val="E1E6E9"/>
                </a:solidFill>
                <a:latin typeface="Cambria"/>
                <a:cs typeface="Cambria"/>
              </a:rPr>
              <a:t>4</a:t>
            </a:r>
            <a:r>
              <a:rPr sz="1900" spc="4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Cambria"/>
                <a:cs typeface="Cambria"/>
              </a:rPr>
              <a:t>(Player,</a:t>
            </a:r>
            <a:r>
              <a:rPr sz="1900" spc="5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30" dirty="0">
                <a:solidFill>
                  <a:srgbClr val="E1E6E9"/>
                </a:solidFill>
                <a:latin typeface="Cambria"/>
                <a:cs typeface="Cambria"/>
              </a:rPr>
              <a:t>Referee,</a:t>
            </a:r>
            <a:r>
              <a:rPr sz="1900" spc="10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50" dirty="0">
                <a:solidFill>
                  <a:srgbClr val="E1E6E9"/>
                </a:solidFill>
                <a:latin typeface="Cambria"/>
                <a:cs typeface="Cambria"/>
              </a:rPr>
              <a:t>Ball,</a:t>
            </a:r>
            <a:r>
              <a:rPr sz="1900" spc="4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05" dirty="0">
                <a:solidFill>
                  <a:srgbClr val="E1E6E9"/>
                </a:solidFill>
                <a:latin typeface="Cambria"/>
                <a:cs typeface="Cambria"/>
              </a:rPr>
              <a:t>Goalkeeper)</a:t>
            </a:r>
            <a:endParaRPr sz="1900">
              <a:latin typeface="Cambria"/>
              <a:cs typeface="Cambria"/>
            </a:endParaRPr>
          </a:p>
          <a:p>
            <a:pPr marL="354965" indent="-342265">
              <a:lnSpc>
                <a:spcPct val="100000"/>
              </a:lnSpc>
              <a:spcBef>
                <a:spcPts val="1510"/>
              </a:spcBef>
              <a:buChar char="•"/>
              <a:tabLst>
                <a:tab pos="354965" algn="l"/>
              </a:tabLst>
            </a:pPr>
            <a:r>
              <a:rPr sz="1900" spc="140" dirty="0">
                <a:solidFill>
                  <a:srgbClr val="E1E6E9"/>
                </a:solidFill>
                <a:latin typeface="Cambria"/>
                <a:cs typeface="Cambria"/>
              </a:rPr>
              <a:t>Annotation:</a:t>
            </a:r>
            <a:r>
              <a:rPr sz="1900" spc="5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35" dirty="0">
                <a:solidFill>
                  <a:srgbClr val="E1E6E9"/>
                </a:solidFill>
                <a:latin typeface="Cambria"/>
                <a:cs typeface="Cambria"/>
              </a:rPr>
              <a:t>YOLO</a:t>
            </a:r>
            <a:r>
              <a:rPr sz="1900" spc="6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50" dirty="0">
                <a:solidFill>
                  <a:srgbClr val="E1E6E9"/>
                </a:solidFill>
                <a:latin typeface="Cambria"/>
                <a:cs typeface="Cambria"/>
              </a:rPr>
              <a:t>bounding</a:t>
            </a:r>
            <a:r>
              <a:rPr sz="1900" spc="4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45" dirty="0">
                <a:solidFill>
                  <a:srgbClr val="E1E6E9"/>
                </a:solidFill>
                <a:latin typeface="Cambria"/>
                <a:cs typeface="Cambria"/>
              </a:rPr>
              <a:t>box</a:t>
            </a:r>
            <a:r>
              <a:rPr sz="190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45" dirty="0">
                <a:solidFill>
                  <a:srgbClr val="E1E6E9"/>
                </a:solidFill>
                <a:latin typeface="Cambria"/>
                <a:cs typeface="Cambria"/>
              </a:rPr>
              <a:t>format</a:t>
            </a:r>
            <a:endParaRPr sz="19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0" y="-1"/>
            <a:ext cx="5486400" cy="8229600"/>
            <a:chOff x="9144000" y="-1"/>
            <a:chExt cx="5486400" cy="82296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0" y="-1"/>
              <a:ext cx="5486400" cy="82295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1495" y="1650110"/>
              <a:ext cx="4931283" cy="493128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64540" y="535400"/>
            <a:ext cx="5888355" cy="1421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5300"/>
              </a:lnSpc>
              <a:spcBef>
                <a:spcPts val="95"/>
              </a:spcBef>
            </a:pPr>
            <a:r>
              <a:rPr sz="4350" spc="310" dirty="0"/>
              <a:t>Results:</a:t>
            </a:r>
            <a:r>
              <a:rPr sz="4350" spc="85" dirty="0"/>
              <a:t> </a:t>
            </a:r>
            <a:r>
              <a:rPr sz="4350" spc="330" dirty="0"/>
              <a:t>Performance </a:t>
            </a:r>
            <a:r>
              <a:rPr sz="4350" spc="310" dirty="0"/>
              <a:t>Metrics</a:t>
            </a:r>
            <a:endParaRPr sz="4350"/>
          </a:p>
        </p:txBody>
      </p:sp>
      <p:sp>
        <p:nvSpPr>
          <p:cNvPr id="6" name="object 6"/>
          <p:cNvSpPr txBox="1"/>
          <p:nvPr/>
        </p:nvSpPr>
        <p:spPr>
          <a:xfrm>
            <a:off x="793800" y="2253488"/>
            <a:ext cx="3592829" cy="2357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5"/>
              </a:spcBef>
            </a:pPr>
            <a:r>
              <a:rPr sz="5750" spc="465" dirty="0">
                <a:solidFill>
                  <a:srgbClr val="E1E6E9"/>
                </a:solidFill>
                <a:latin typeface="Cambria"/>
                <a:cs typeface="Cambria"/>
              </a:rPr>
              <a:t>78.9%</a:t>
            </a:r>
            <a:endParaRPr sz="5750">
              <a:latin typeface="Cambria"/>
              <a:cs typeface="Cambria"/>
            </a:endParaRPr>
          </a:p>
          <a:p>
            <a:pPr marL="2540" algn="ctr">
              <a:lnSpc>
                <a:spcPct val="100000"/>
              </a:lnSpc>
              <a:spcBef>
                <a:spcPts val="2325"/>
              </a:spcBef>
            </a:pPr>
            <a:r>
              <a:rPr sz="2150" spc="204" dirty="0">
                <a:solidFill>
                  <a:srgbClr val="E1E6E9"/>
                </a:solidFill>
                <a:latin typeface="Cambria"/>
                <a:cs typeface="Cambria"/>
              </a:rPr>
              <a:t>mAP@50</a:t>
            </a:r>
            <a:endParaRPr sz="2150">
              <a:latin typeface="Cambria"/>
              <a:cs typeface="Cambria"/>
            </a:endParaRPr>
          </a:p>
          <a:p>
            <a:pPr marL="12700" marR="5080" algn="ctr">
              <a:lnSpc>
                <a:spcPct val="137100"/>
              </a:lnSpc>
              <a:spcBef>
                <a:spcPts val="969"/>
              </a:spcBef>
            </a:pPr>
            <a:r>
              <a:rPr sz="1700" spc="175" dirty="0">
                <a:solidFill>
                  <a:srgbClr val="E1E6E9"/>
                </a:solidFill>
                <a:latin typeface="Cambria"/>
                <a:cs typeface="Cambria"/>
              </a:rPr>
              <a:t>Mean</a:t>
            </a:r>
            <a:r>
              <a:rPr sz="1700" spc="1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E1E6E9"/>
                </a:solidFill>
                <a:latin typeface="Cambria"/>
                <a:cs typeface="Cambria"/>
              </a:rPr>
              <a:t>Average</a:t>
            </a:r>
            <a:r>
              <a:rPr sz="1700" spc="2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E1E6E9"/>
                </a:solidFill>
                <a:latin typeface="Cambria"/>
                <a:cs typeface="Cambria"/>
              </a:rPr>
              <a:t>Precision</a:t>
            </a:r>
            <a:r>
              <a:rPr sz="1700" spc="2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E1E6E9"/>
                </a:solidFill>
                <a:latin typeface="Cambria"/>
                <a:cs typeface="Cambria"/>
              </a:rPr>
              <a:t>indicates </a:t>
            </a:r>
            <a:r>
              <a:rPr sz="1700" spc="135" dirty="0">
                <a:solidFill>
                  <a:srgbClr val="E1E6E9"/>
                </a:solidFill>
                <a:latin typeface="Cambria"/>
                <a:cs typeface="Cambria"/>
              </a:rPr>
              <a:t>strong</a:t>
            </a:r>
            <a:r>
              <a:rPr sz="1700" spc="2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E1E6E9"/>
                </a:solidFill>
                <a:latin typeface="Cambria"/>
                <a:cs typeface="Cambria"/>
              </a:rPr>
              <a:t>overall</a:t>
            </a:r>
            <a:r>
              <a:rPr sz="170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E1E6E9"/>
                </a:solidFill>
                <a:latin typeface="Cambria"/>
                <a:cs typeface="Cambria"/>
              </a:rPr>
              <a:t>performance.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915661" y="2253488"/>
            <a:ext cx="3274695" cy="2357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5750" spc="465" dirty="0">
                <a:solidFill>
                  <a:srgbClr val="E1E6E9"/>
                </a:solidFill>
                <a:latin typeface="Cambria"/>
                <a:cs typeface="Cambria"/>
              </a:rPr>
              <a:t>86.7%</a:t>
            </a:r>
            <a:endParaRPr sz="5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325"/>
              </a:spcBef>
            </a:pPr>
            <a:r>
              <a:rPr sz="2150" spc="130" dirty="0">
                <a:solidFill>
                  <a:srgbClr val="E1E6E9"/>
                </a:solidFill>
                <a:latin typeface="Cambria"/>
                <a:cs typeface="Cambria"/>
              </a:rPr>
              <a:t>Precision</a:t>
            </a:r>
            <a:endParaRPr sz="2150">
              <a:latin typeface="Cambria"/>
              <a:cs typeface="Cambria"/>
            </a:endParaRPr>
          </a:p>
          <a:p>
            <a:pPr marL="12065" marR="5080" algn="ctr">
              <a:lnSpc>
                <a:spcPct val="137100"/>
              </a:lnSpc>
              <a:spcBef>
                <a:spcPts val="969"/>
              </a:spcBef>
            </a:pPr>
            <a:r>
              <a:rPr sz="1700" spc="175" dirty="0">
                <a:solidFill>
                  <a:srgbClr val="E1E6E9"/>
                </a:solidFill>
                <a:latin typeface="Cambria"/>
                <a:cs typeface="Cambria"/>
              </a:rPr>
              <a:t>High</a:t>
            </a:r>
            <a:r>
              <a:rPr sz="170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E1E6E9"/>
                </a:solidFill>
                <a:latin typeface="Cambria"/>
                <a:cs typeface="Cambria"/>
              </a:rPr>
              <a:t>precision</a:t>
            </a:r>
            <a:r>
              <a:rPr sz="1700" spc="2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35" dirty="0">
                <a:solidFill>
                  <a:srgbClr val="E1E6E9"/>
                </a:solidFill>
                <a:latin typeface="Cambria"/>
                <a:cs typeface="Cambria"/>
              </a:rPr>
              <a:t>shows</a:t>
            </a:r>
            <a:r>
              <a:rPr sz="170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E1E6E9"/>
                </a:solidFill>
                <a:latin typeface="Cambria"/>
                <a:cs typeface="Cambria"/>
              </a:rPr>
              <a:t>accurate </a:t>
            </a:r>
            <a:r>
              <a:rPr sz="1700" spc="105" dirty="0">
                <a:solidFill>
                  <a:srgbClr val="E1E6E9"/>
                </a:solidFill>
                <a:latin typeface="Cambria"/>
                <a:cs typeface="Cambria"/>
              </a:rPr>
              <a:t>positive</a:t>
            </a:r>
            <a:r>
              <a:rPr sz="1700" spc="2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05" dirty="0">
                <a:solidFill>
                  <a:srgbClr val="E1E6E9"/>
                </a:solidFill>
                <a:latin typeface="Cambria"/>
                <a:cs typeface="Cambria"/>
              </a:rPr>
              <a:t>detections.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8788" y="5232019"/>
            <a:ext cx="3646804" cy="23577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5750" spc="400" dirty="0">
                <a:solidFill>
                  <a:srgbClr val="E1E6E9"/>
                </a:solidFill>
                <a:latin typeface="Cambria"/>
                <a:cs typeface="Cambria"/>
              </a:rPr>
              <a:t>74.2%</a:t>
            </a:r>
            <a:endParaRPr sz="57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2325"/>
              </a:spcBef>
            </a:pPr>
            <a:r>
              <a:rPr sz="2150" spc="120" dirty="0">
                <a:solidFill>
                  <a:srgbClr val="E1E6E9"/>
                </a:solidFill>
                <a:latin typeface="Cambria"/>
                <a:cs typeface="Cambria"/>
              </a:rPr>
              <a:t>Recall</a:t>
            </a:r>
            <a:endParaRPr sz="2150">
              <a:latin typeface="Cambria"/>
              <a:cs typeface="Cambria"/>
            </a:endParaRPr>
          </a:p>
          <a:p>
            <a:pPr marL="12065" marR="5080" algn="ctr">
              <a:lnSpc>
                <a:spcPct val="137200"/>
              </a:lnSpc>
              <a:spcBef>
                <a:spcPts val="965"/>
              </a:spcBef>
            </a:pPr>
            <a:r>
              <a:rPr sz="1700" spc="114" dirty="0">
                <a:solidFill>
                  <a:srgbClr val="E1E6E9"/>
                </a:solidFill>
                <a:latin typeface="Cambria"/>
                <a:cs typeface="Cambria"/>
              </a:rPr>
              <a:t>Recall</a:t>
            </a:r>
            <a:r>
              <a:rPr sz="1700" spc="2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E1E6E9"/>
                </a:solidFill>
                <a:latin typeface="Cambria"/>
                <a:cs typeface="Cambria"/>
              </a:rPr>
              <a:t>rate</a:t>
            </a:r>
            <a:r>
              <a:rPr sz="1700" spc="2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E1E6E9"/>
                </a:solidFill>
                <a:latin typeface="Cambria"/>
                <a:cs typeface="Cambria"/>
              </a:rPr>
              <a:t>indicates</a:t>
            </a:r>
            <a:r>
              <a:rPr sz="1700" spc="-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E1E6E9"/>
                </a:solidFill>
                <a:latin typeface="Cambria"/>
                <a:cs typeface="Cambria"/>
              </a:rPr>
              <a:t>ability</a:t>
            </a:r>
            <a:r>
              <a:rPr sz="1700" spc="3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25" dirty="0">
                <a:solidFill>
                  <a:srgbClr val="E1E6E9"/>
                </a:solidFill>
                <a:latin typeface="Cambria"/>
                <a:cs typeface="Cambria"/>
              </a:rPr>
              <a:t>to</a:t>
            </a:r>
            <a:r>
              <a:rPr sz="170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14" dirty="0">
                <a:solidFill>
                  <a:srgbClr val="E1E6E9"/>
                </a:solidFill>
                <a:latin typeface="Cambria"/>
                <a:cs typeface="Cambria"/>
              </a:rPr>
              <a:t>find </a:t>
            </a:r>
            <a:r>
              <a:rPr sz="1700" spc="160" dirty="0">
                <a:solidFill>
                  <a:srgbClr val="E1E6E9"/>
                </a:solidFill>
                <a:latin typeface="Cambria"/>
                <a:cs typeface="Cambria"/>
              </a:rPr>
              <a:t>most</a:t>
            </a:r>
            <a:r>
              <a:rPr sz="1700" spc="2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10" dirty="0">
                <a:solidFill>
                  <a:srgbClr val="E1E6E9"/>
                </a:solidFill>
                <a:latin typeface="Cambria"/>
                <a:cs typeface="Cambria"/>
              </a:rPr>
              <a:t>relevant</a:t>
            </a:r>
            <a:r>
              <a:rPr sz="1700" spc="-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700" spc="100" dirty="0">
                <a:solidFill>
                  <a:srgbClr val="E1E6E9"/>
                </a:solidFill>
                <a:latin typeface="Cambria"/>
                <a:cs typeface="Cambria"/>
              </a:rPr>
              <a:t>objects.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5034" y="1974976"/>
            <a:ext cx="7133844" cy="36883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51103" y="756861"/>
            <a:ext cx="7285990" cy="157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00"/>
              </a:spcBef>
            </a:pPr>
            <a:r>
              <a:rPr sz="4850" spc="315" dirty="0"/>
              <a:t>Visual</a:t>
            </a:r>
            <a:r>
              <a:rPr sz="4850" spc="90" dirty="0"/>
              <a:t> </a:t>
            </a:r>
            <a:r>
              <a:rPr sz="4850" spc="335" dirty="0"/>
              <a:t>Results:</a:t>
            </a:r>
            <a:r>
              <a:rPr sz="4850" spc="90" dirty="0"/>
              <a:t> </a:t>
            </a:r>
            <a:r>
              <a:rPr sz="4850" spc="395" dirty="0"/>
              <a:t>Example </a:t>
            </a:r>
            <a:r>
              <a:rPr sz="4850" spc="340" dirty="0"/>
              <a:t>Detections</a:t>
            </a:r>
            <a:endParaRPr sz="4850"/>
          </a:p>
        </p:txBody>
      </p:sp>
      <p:grpSp>
        <p:nvGrpSpPr>
          <p:cNvPr id="4" name="object 4"/>
          <p:cNvGrpSpPr/>
          <p:nvPr/>
        </p:nvGrpSpPr>
        <p:grpSpPr>
          <a:xfrm>
            <a:off x="856183" y="3024758"/>
            <a:ext cx="570865" cy="570865"/>
            <a:chOff x="856183" y="3024758"/>
            <a:chExt cx="570865" cy="570865"/>
          </a:xfrm>
        </p:grpSpPr>
        <p:sp>
          <p:nvSpPr>
            <p:cNvPr id="5" name="object 5"/>
            <p:cNvSpPr/>
            <p:nvPr/>
          </p:nvSpPr>
          <p:spPr>
            <a:xfrm>
              <a:off x="863803" y="3032378"/>
              <a:ext cx="555625" cy="555625"/>
            </a:xfrm>
            <a:custGeom>
              <a:avLst/>
              <a:gdLst/>
              <a:ahLst/>
              <a:cxnLst/>
              <a:rect l="l" t="t" r="r" b="b"/>
              <a:pathLst>
                <a:path w="555625" h="555625">
                  <a:moveTo>
                    <a:pt x="451662" y="0"/>
                  </a:moveTo>
                  <a:lnTo>
                    <a:pt x="103670" y="0"/>
                  </a:lnTo>
                  <a:lnTo>
                    <a:pt x="63313" y="8155"/>
                  </a:lnTo>
                  <a:lnTo>
                    <a:pt x="30360" y="30384"/>
                  </a:lnTo>
                  <a:lnTo>
                    <a:pt x="8145" y="63329"/>
                  </a:lnTo>
                  <a:lnTo>
                    <a:pt x="0" y="103632"/>
                  </a:lnTo>
                  <a:lnTo>
                    <a:pt x="0" y="451612"/>
                  </a:lnTo>
                  <a:lnTo>
                    <a:pt x="8145" y="491988"/>
                  </a:lnTo>
                  <a:lnTo>
                    <a:pt x="30360" y="524970"/>
                  </a:lnTo>
                  <a:lnTo>
                    <a:pt x="63313" y="547213"/>
                  </a:lnTo>
                  <a:lnTo>
                    <a:pt x="103670" y="555371"/>
                  </a:lnTo>
                  <a:lnTo>
                    <a:pt x="451662" y="555371"/>
                  </a:lnTo>
                  <a:lnTo>
                    <a:pt x="492019" y="547213"/>
                  </a:lnTo>
                  <a:lnTo>
                    <a:pt x="524957" y="524970"/>
                  </a:lnTo>
                  <a:lnTo>
                    <a:pt x="547156" y="491988"/>
                  </a:lnTo>
                  <a:lnTo>
                    <a:pt x="555294" y="451612"/>
                  </a:lnTo>
                  <a:lnTo>
                    <a:pt x="555294" y="103632"/>
                  </a:lnTo>
                  <a:lnTo>
                    <a:pt x="547156" y="63329"/>
                  </a:lnTo>
                  <a:lnTo>
                    <a:pt x="524957" y="30384"/>
                  </a:lnTo>
                  <a:lnTo>
                    <a:pt x="492019" y="8155"/>
                  </a:lnTo>
                  <a:lnTo>
                    <a:pt x="451662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63803" y="3032378"/>
              <a:ext cx="555625" cy="555625"/>
            </a:xfrm>
            <a:custGeom>
              <a:avLst/>
              <a:gdLst/>
              <a:ahLst/>
              <a:cxnLst/>
              <a:rect l="l" t="t" r="r" b="b"/>
              <a:pathLst>
                <a:path w="555625" h="555625">
                  <a:moveTo>
                    <a:pt x="0" y="103632"/>
                  </a:moveTo>
                  <a:lnTo>
                    <a:pt x="8145" y="63329"/>
                  </a:lnTo>
                  <a:lnTo>
                    <a:pt x="30360" y="30384"/>
                  </a:lnTo>
                  <a:lnTo>
                    <a:pt x="63313" y="8155"/>
                  </a:lnTo>
                  <a:lnTo>
                    <a:pt x="103670" y="0"/>
                  </a:lnTo>
                  <a:lnTo>
                    <a:pt x="451662" y="0"/>
                  </a:lnTo>
                  <a:lnTo>
                    <a:pt x="492019" y="8155"/>
                  </a:lnTo>
                  <a:lnTo>
                    <a:pt x="524957" y="30384"/>
                  </a:lnTo>
                  <a:lnTo>
                    <a:pt x="547156" y="63329"/>
                  </a:lnTo>
                  <a:lnTo>
                    <a:pt x="555294" y="103632"/>
                  </a:lnTo>
                  <a:lnTo>
                    <a:pt x="555294" y="451612"/>
                  </a:lnTo>
                  <a:lnTo>
                    <a:pt x="547156" y="491988"/>
                  </a:lnTo>
                  <a:lnTo>
                    <a:pt x="524957" y="524970"/>
                  </a:lnTo>
                  <a:lnTo>
                    <a:pt x="492019" y="547213"/>
                  </a:lnTo>
                  <a:lnTo>
                    <a:pt x="451662" y="555371"/>
                  </a:lnTo>
                  <a:lnTo>
                    <a:pt x="103670" y="555371"/>
                  </a:lnTo>
                  <a:lnTo>
                    <a:pt x="63313" y="547213"/>
                  </a:lnTo>
                  <a:lnTo>
                    <a:pt x="30360" y="524970"/>
                  </a:lnTo>
                  <a:lnTo>
                    <a:pt x="8145" y="491988"/>
                  </a:lnTo>
                  <a:lnTo>
                    <a:pt x="0" y="451612"/>
                  </a:lnTo>
                  <a:lnTo>
                    <a:pt x="0" y="103632"/>
                  </a:lnTo>
                  <a:close/>
                </a:path>
              </a:pathLst>
            </a:custGeom>
            <a:ln w="15239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56183" y="6056884"/>
            <a:ext cx="570865" cy="570865"/>
            <a:chOff x="856183" y="6056884"/>
            <a:chExt cx="570865" cy="570865"/>
          </a:xfrm>
        </p:grpSpPr>
        <p:sp>
          <p:nvSpPr>
            <p:cNvPr id="8" name="object 8"/>
            <p:cNvSpPr/>
            <p:nvPr/>
          </p:nvSpPr>
          <p:spPr>
            <a:xfrm>
              <a:off x="863803" y="6064504"/>
              <a:ext cx="555625" cy="555625"/>
            </a:xfrm>
            <a:custGeom>
              <a:avLst/>
              <a:gdLst/>
              <a:ahLst/>
              <a:cxnLst/>
              <a:rect l="l" t="t" r="r" b="b"/>
              <a:pathLst>
                <a:path w="555625" h="555625">
                  <a:moveTo>
                    <a:pt x="451662" y="0"/>
                  </a:moveTo>
                  <a:lnTo>
                    <a:pt x="103670" y="0"/>
                  </a:lnTo>
                  <a:lnTo>
                    <a:pt x="63313" y="8137"/>
                  </a:lnTo>
                  <a:lnTo>
                    <a:pt x="30360" y="30337"/>
                  </a:lnTo>
                  <a:lnTo>
                    <a:pt x="8145" y="63275"/>
                  </a:lnTo>
                  <a:lnTo>
                    <a:pt x="0" y="103632"/>
                  </a:lnTo>
                  <a:lnTo>
                    <a:pt x="0" y="451612"/>
                  </a:lnTo>
                  <a:lnTo>
                    <a:pt x="8145" y="491968"/>
                  </a:lnTo>
                  <a:lnTo>
                    <a:pt x="30360" y="524906"/>
                  </a:lnTo>
                  <a:lnTo>
                    <a:pt x="63313" y="547106"/>
                  </a:lnTo>
                  <a:lnTo>
                    <a:pt x="103670" y="555244"/>
                  </a:lnTo>
                  <a:lnTo>
                    <a:pt x="451662" y="555244"/>
                  </a:lnTo>
                  <a:lnTo>
                    <a:pt x="492019" y="547106"/>
                  </a:lnTo>
                  <a:lnTo>
                    <a:pt x="524957" y="524906"/>
                  </a:lnTo>
                  <a:lnTo>
                    <a:pt x="547156" y="491968"/>
                  </a:lnTo>
                  <a:lnTo>
                    <a:pt x="555294" y="451612"/>
                  </a:lnTo>
                  <a:lnTo>
                    <a:pt x="555294" y="103632"/>
                  </a:lnTo>
                  <a:lnTo>
                    <a:pt x="547156" y="63275"/>
                  </a:lnTo>
                  <a:lnTo>
                    <a:pt x="524957" y="30337"/>
                  </a:lnTo>
                  <a:lnTo>
                    <a:pt x="492019" y="8137"/>
                  </a:lnTo>
                  <a:lnTo>
                    <a:pt x="451662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63803" y="6064504"/>
              <a:ext cx="555625" cy="555625"/>
            </a:xfrm>
            <a:custGeom>
              <a:avLst/>
              <a:gdLst/>
              <a:ahLst/>
              <a:cxnLst/>
              <a:rect l="l" t="t" r="r" b="b"/>
              <a:pathLst>
                <a:path w="555625" h="555625">
                  <a:moveTo>
                    <a:pt x="0" y="103632"/>
                  </a:moveTo>
                  <a:lnTo>
                    <a:pt x="8145" y="63275"/>
                  </a:lnTo>
                  <a:lnTo>
                    <a:pt x="30360" y="30337"/>
                  </a:lnTo>
                  <a:lnTo>
                    <a:pt x="63313" y="8137"/>
                  </a:lnTo>
                  <a:lnTo>
                    <a:pt x="103670" y="0"/>
                  </a:lnTo>
                  <a:lnTo>
                    <a:pt x="451662" y="0"/>
                  </a:lnTo>
                  <a:lnTo>
                    <a:pt x="492019" y="8137"/>
                  </a:lnTo>
                  <a:lnTo>
                    <a:pt x="524957" y="30337"/>
                  </a:lnTo>
                  <a:lnTo>
                    <a:pt x="547156" y="63275"/>
                  </a:lnTo>
                  <a:lnTo>
                    <a:pt x="555294" y="103632"/>
                  </a:lnTo>
                  <a:lnTo>
                    <a:pt x="555294" y="451612"/>
                  </a:lnTo>
                  <a:lnTo>
                    <a:pt x="547156" y="491968"/>
                  </a:lnTo>
                  <a:lnTo>
                    <a:pt x="524957" y="524906"/>
                  </a:lnTo>
                  <a:lnTo>
                    <a:pt x="492019" y="547106"/>
                  </a:lnTo>
                  <a:lnTo>
                    <a:pt x="451662" y="555244"/>
                  </a:lnTo>
                  <a:lnTo>
                    <a:pt x="103670" y="555244"/>
                  </a:lnTo>
                  <a:lnTo>
                    <a:pt x="63313" y="547106"/>
                  </a:lnTo>
                  <a:lnTo>
                    <a:pt x="30360" y="524906"/>
                  </a:lnTo>
                  <a:lnTo>
                    <a:pt x="8145" y="491968"/>
                  </a:lnTo>
                  <a:lnTo>
                    <a:pt x="0" y="451612"/>
                  </a:lnTo>
                  <a:lnTo>
                    <a:pt x="0" y="103632"/>
                  </a:lnTo>
                  <a:close/>
                </a:path>
              </a:pathLst>
            </a:custGeom>
            <a:ln w="1524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653285" y="3002026"/>
            <a:ext cx="6184265" cy="4743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75" dirty="0">
                <a:solidFill>
                  <a:srgbClr val="E1E6E9"/>
                </a:solidFill>
                <a:latin typeface="Cambria"/>
                <a:cs typeface="Cambria"/>
              </a:rPr>
              <a:t>Successful</a:t>
            </a:r>
            <a:r>
              <a:rPr sz="2400" spc="1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E1E6E9"/>
                </a:solidFill>
                <a:latin typeface="Cambria"/>
                <a:cs typeface="Cambria"/>
              </a:rPr>
              <a:t>Cases</a:t>
            </a:r>
            <a:endParaRPr sz="2400">
              <a:latin typeface="Cambria"/>
              <a:cs typeface="Cambria"/>
            </a:endParaRPr>
          </a:p>
          <a:p>
            <a:pPr marL="12700" marR="3465829">
              <a:lnSpc>
                <a:spcPct val="135900"/>
              </a:lnSpc>
              <a:spcBef>
                <a:spcPts val="1075"/>
              </a:spcBef>
            </a:pPr>
            <a:r>
              <a:rPr sz="1900" spc="155" dirty="0">
                <a:solidFill>
                  <a:srgbClr val="E1E6E9"/>
                </a:solidFill>
                <a:latin typeface="Cambria"/>
                <a:cs typeface="Cambria"/>
              </a:rPr>
              <a:t>Model</a:t>
            </a:r>
            <a:r>
              <a:rPr sz="1900" spc="6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10" dirty="0">
                <a:solidFill>
                  <a:srgbClr val="E1E6E9"/>
                </a:solidFill>
                <a:latin typeface="Cambria"/>
                <a:cs typeface="Cambria"/>
              </a:rPr>
              <a:t>accurately </a:t>
            </a:r>
            <a:r>
              <a:rPr sz="1900" spc="114" dirty="0">
                <a:solidFill>
                  <a:srgbClr val="E1E6E9"/>
                </a:solidFill>
                <a:latin typeface="Cambria"/>
                <a:cs typeface="Cambria"/>
              </a:rPr>
              <a:t>detects</a:t>
            </a:r>
            <a:r>
              <a:rPr sz="1900" spc="8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20" dirty="0">
                <a:solidFill>
                  <a:srgbClr val="E1E6E9"/>
                </a:solidFill>
                <a:latin typeface="Cambria"/>
                <a:cs typeface="Cambria"/>
              </a:rPr>
              <a:t>players, referees,</a:t>
            </a:r>
            <a:r>
              <a:rPr sz="1900" spc="9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50" dirty="0">
                <a:solidFill>
                  <a:srgbClr val="E1E6E9"/>
                </a:solidFill>
                <a:latin typeface="Cambria"/>
                <a:cs typeface="Cambria"/>
              </a:rPr>
              <a:t>and</a:t>
            </a:r>
            <a:r>
              <a:rPr sz="1900" spc="4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14" dirty="0">
                <a:solidFill>
                  <a:srgbClr val="E1E6E9"/>
                </a:solidFill>
                <a:latin typeface="Cambria"/>
                <a:cs typeface="Cambria"/>
              </a:rPr>
              <a:t>ball.</a:t>
            </a:r>
            <a:r>
              <a:rPr sz="1900" spc="4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25" dirty="0">
                <a:solidFill>
                  <a:srgbClr val="E1E6E9"/>
                </a:solidFill>
                <a:latin typeface="Cambria"/>
                <a:cs typeface="Cambria"/>
              </a:rPr>
              <a:t>This </a:t>
            </a:r>
            <a:r>
              <a:rPr sz="1900" spc="140" dirty="0">
                <a:solidFill>
                  <a:srgbClr val="E1E6E9"/>
                </a:solidFill>
                <a:latin typeface="Cambria"/>
                <a:cs typeface="Cambria"/>
              </a:rPr>
              <a:t>shows</a:t>
            </a:r>
            <a:r>
              <a:rPr sz="1900" spc="6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1900" spc="135" dirty="0">
                <a:solidFill>
                  <a:srgbClr val="E1E6E9"/>
                </a:solidFill>
                <a:latin typeface="Cambria"/>
                <a:cs typeface="Cambria"/>
              </a:rPr>
              <a:t>strong </a:t>
            </a:r>
            <a:r>
              <a:rPr sz="1900" spc="105" dirty="0">
                <a:solidFill>
                  <a:srgbClr val="E1E6E9"/>
                </a:solidFill>
                <a:latin typeface="Cambria"/>
                <a:cs typeface="Cambria"/>
              </a:rPr>
              <a:t>capabilities.</a:t>
            </a:r>
            <a:endParaRPr sz="19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195"/>
              </a:spcBef>
            </a:pPr>
            <a:endParaRPr sz="19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155" dirty="0">
                <a:solidFill>
                  <a:srgbClr val="E1E6E9"/>
                </a:solidFill>
                <a:latin typeface="Cambria"/>
                <a:cs typeface="Cambria"/>
              </a:rPr>
              <a:t>Qualitative</a:t>
            </a:r>
            <a:r>
              <a:rPr sz="2400" spc="4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2400" spc="170" dirty="0">
                <a:solidFill>
                  <a:srgbClr val="E1E6E9"/>
                </a:solidFill>
                <a:latin typeface="Cambria"/>
                <a:cs typeface="Cambria"/>
              </a:rPr>
              <a:t>Performance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ct val="129099"/>
              </a:lnSpc>
              <a:spcBef>
                <a:spcPts val="1100"/>
              </a:spcBef>
            </a:pPr>
            <a:r>
              <a:rPr sz="2000" dirty="0">
                <a:solidFill>
                  <a:srgbClr val="E7E6E6"/>
                </a:solidFill>
                <a:latin typeface="Calibri"/>
                <a:cs typeface="Calibri"/>
              </a:rPr>
              <a:t>The</a:t>
            </a:r>
            <a:r>
              <a:rPr sz="2000" spc="-5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7E6E6"/>
                </a:solidFill>
                <a:latin typeface="Calibri"/>
                <a:cs typeface="Calibri"/>
              </a:rPr>
              <a:t>football</a:t>
            </a:r>
            <a:r>
              <a:rPr sz="2000" spc="-6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7E6E6"/>
                </a:solidFill>
                <a:latin typeface="Calibri"/>
                <a:cs typeface="Calibri"/>
              </a:rPr>
              <a:t>analysis</a:t>
            </a:r>
            <a:r>
              <a:rPr sz="2000" spc="-3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7E6E6"/>
                </a:solidFill>
                <a:latin typeface="Calibri"/>
                <a:cs typeface="Calibri"/>
              </a:rPr>
              <a:t>model</a:t>
            </a:r>
            <a:r>
              <a:rPr sz="2000" spc="-5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E7E6E6"/>
                </a:solidFill>
                <a:latin typeface="Calibri"/>
                <a:cs typeface="Calibri"/>
              </a:rPr>
              <a:t>demonstrates</a:t>
            </a:r>
            <a:r>
              <a:rPr sz="2000" spc="-4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7E6E6"/>
                </a:solidFill>
                <a:latin typeface="Calibri"/>
                <a:cs typeface="Calibri"/>
              </a:rPr>
              <a:t>strong</a:t>
            </a:r>
            <a:r>
              <a:rPr sz="2000" spc="-4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E7E6E6"/>
                </a:solidFill>
                <a:latin typeface="Calibri"/>
                <a:cs typeface="Calibri"/>
              </a:rPr>
              <a:t>qualitative performance</a:t>
            </a:r>
            <a:r>
              <a:rPr sz="2000" spc="-6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7E6E6"/>
                </a:solidFill>
                <a:latin typeface="Calibri"/>
                <a:cs typeface="Calibri"/>
              </a:rPr>
              <a:t>across</a:t>
            </a:r>
            <a:r>
              <a:rPr sz="2000" spc="-5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7E6E6"/>
                </a:solidFill>
                <a:latin typeface="Calibri"/>
                <a:cs typeface="Calibri"/>
              </a:rPr>
              <a:t>various</a:t>
            </a:r>
            <a:r>
              <a:rPr sz="2000" spc="-5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7E6E6"/>
                </a:solidFill>
                <a:latin typeface="Calibri"/>
                <a:cs typeface="Calibri"/>
              </a:rPr>
              <a:t>tasks,</a:t>
            </a:r>
            <a:r>
              <a:rPr sz="2000" spc="-4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7E6E6"/>
                </a:solidFill>
                <a:latin typeface="Calibri"/>
                <a:cs typeface="Calibri"/>
              </a:rPr>
              <a:t>highlighting</a:t>
            </a:r>
            <a:r>
              <a:rPr sz="2000" spc="-7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7E6E6"/>
                </a:solidFill>
                <a:latin typeface="Calibri"/>
                <a:cs typeface="Calibri"/>
              </a:rPr>
              <a:t>its</a:t>
            </a:r>
            <a:r>
              <a:rPr sz="2000" spc="-5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E7E6E6"/>
                </a:solidFill>
                <a:latin typeface="Calibri"/>
                <a:cs typeface="Calibri"/>
              </a:rPr>
              <a:t>practical </a:t>
            </a:r>
            <a:r>
              <a:rPr sz="2000" dirty="0">
                <a:solidFill>
                  <a:srgbClr val="E7E6E6"/>
                </a:solidFill>
                <a:latin typeface="Calibri"/>
                <a:cs typeface="Calibri"/>
              </a:rPr>
              <a:t>utility</a:t>
            </a:r>
            <a:r>
              <a:rPr sz="2000" spc="-3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7E6E6"/>
                </a:solidFill>
                <a:latin typeface="Calibri"/>
                <a:cs typeface="Calibri"/>
              </a:rPr>
              <a:t>and</a:t>
            </a:r>
            <a:r>
              <a:rPr sz="2000" spc="-4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E7E6E6"/>
                </a:solidFill>
                <a:latin typeface="Calibri"/>
                <a:cs typeface="Calibri"/>
              </a:rPr>
              <a:t>intelligent</a:t>
            </a:r>
            <a:r>
              <a:rPr sz="2000" spc="-1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7E6E6"/>
                </a:solidFill>
                <a:latin typeface="Calibri"/>
                <a:cs typeface="Calibri"/>
              </a:rPr>
              <a:t>behavior</a:t>
            </a:r>
            <a:r>
              <a:rPr sz="2000" spc="-5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7E6E6"/>
                </a:solidFill>
                <a:latin typeface="Calibri"/>
                <a:cs typeface="Calibri"/>
              </a:rPr>
              <a:t>beyond</a:t>
            </a:r>
            <a:r>
              <a:rPr sz="2000" spc="-6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E7E6E6"/>
                </a:solidFill>
                <a:latin typeface="Calibri"/>
                <a:cs typeface="Calibri"/>
              </a:rPr>
              <a:t>just</a:t>
            </a:r>
            <a:r>
              <a:rPr sz="2000" spc="-4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E7E6E6"/>
                </a:solidFill>
                <a:latin typeface="Calibri"/>
                <a:cs typeface="Calibri"/>
              </a:rPr>
              <a:t>numbers.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103" y="291025"/>
            <a:ext cx="10025380" cy="1577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00"/>
              </a:spcBef>
            </a:pPr>
            <a:r>
              <a:rPr sz="4850" spc="315" dirty="0"/>
              <a:t>Future</a:t>
            </a:r>
            <a:r>
              <a:rPr sz="4850" spc="95" dirty="0"/>
              <a:t> </a:t>
            </a:r>
            <a:r>
              <a:rPr sz="4850" spc="325" dirty="0"/>
              <a:t>Work:</a:t>
            </a:r>
            <a:r>
              <a:rPr sz="4850" spc="100" dirty="0"/>
              <a:t> </a:t>
            </a:r>
            <a:r>
              <a:rPr sz="4850" spc="405" dirty="0"/>
              <a:t>Enhancements</a:t>
            </a:r>
            <a:r>
              <a:rPr sz="4850" spc="145" dirty="0"/>
              <a:t> </a:t>
            </a:r>
            <a:r>
              <a:rPr sz="4850" spc="360" dirty="0"/>
              <a:t>and </a:t>
            </a:r>
            <a:r>
              <a:rPr sz="4850" spc="325" dirty="0"/>
              <a:t>Applications</a:t>
            </a:r>
            <a:endParaRPr sz="4850"/>
          </a:p>
        </p:txBody>
      </p:sp>
      <p:sp>
        <p:nvSpPr>
          <p:cNvPr id="3" name="object 3"/>
          <p:cNvSpPr txBox="1"/>
          <p:nvPr/>
        </p:nvSpPr>
        <p:spPr>
          <a:xfrm>
            <a:off x="198831" y="2398852"/>
            <a:ext cx="5086350" cy="2879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25780" algn="ctr">
              <a:lnSpc>
                <a:spcPct val="100000"/>
              </a:lnSpc>
              <a:spcBef>
                <a:spcPts val="100"/>
              </a:spcBef>
            </a:pPr>
            <a:r>
              <a:rPr sz="2400" spc="160" dirty="0">
                <a:solidFill>
                  <a:srgbClr val="E1E6E9"/>
                </a:solidFill>
                <a:latin typeface="Cambria"/>
                <a:cs typeface="Cambria"/>
              </a:rPr>
              <a:t>Potential</a:t>
            </a:r>
            <a:r>
              <a:rPr sz="2400" spc="8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2400" spc="150" dirty="0">
                <a:solidFill>
                  <a:srgbClr val="E1E6E9"/>
                </a:solidFill>
                <a:latin typeface="Cambria"/>
                <a:cs typeface="Cambria"/>
              </a:rPr>
              <a:t>Directions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ct val="129099"/>
              </a:lnSpc>
              <a:spcBef>
                <a:spcPts val="99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Expanding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provide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live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predictions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commentary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during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ongoing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matches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could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increase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usefulness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broadcasters,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coaches,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fans.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includes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forecasting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momentum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shifts,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potential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goals,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tactical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adjustments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in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508752" y="3326384"/>
            <a:ext cx="3613150" cy="3613150"/>
            <a:chOff x="5508752" y="3326384"/>
            <a:chExt cx="3613150" cy="36131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08752" y="3326384"/>
              <a:ext cx="3612769" cy="361276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777103" y="3594862"/>
              <a:ext cx="617220" cy="617220"/>
            </a:xfrm>
            <a:custGeom>
              <a:avLst/>
              <a:gdLst/>
              <a:ahLst/>
              <a:cxnLst/>
              <a:rect l="l" t="t" r="r" b="b"/>
              <a:pathLst>
                <a:path w="617220" h="617220">
                  <a:moveTo>
                    <a:pt x="308483" y="0"/>
                  </a:moveTo>
                  <a:lnTo>
                    <a:pt x="262911" y="3343"/>
                  </a:lnTo>
                  <a:lnTo>
                    <a:pt x="219412" y="13055"/>
                  </a:lnTo>
                  <a:lnTo>
                    <a:pt x="178461" y="28660"/>
                  </a:lnTo>
                  <a:lnTo>
                    <a:pt x="140538" y="49682"/>
                  </a:lnTo>
                  <a:lnTo>
                    <a:pt x="106121" y="75644"/>
                  </a:lnTo>
                  <a:lnTo>
                    <a:pt x="75687" y="106069"/>
                  </a:lnTo>
                  <a:lnTo>
                    <a:pt x="49714" y="140482"/>
                  </a:lnTo>
                  <a:lnTo>
                    <a:pt x="28681" y="178406"/>
                  </a:lnTo>
                  <a:lnTo>
                    <a:pt x="13066" y="219365"/>
                  </a:lnTo>
                  <a:lnTo>
                    <a:pt x="3346" y="262883"/>
                  </a:lnTo>
                  <a:lnTo>
                    <a:pt x="0" y="308483"/>
                  </a:lnTo>
                  <a:lnTo>
                    <a:pt x="3346" y="354082"/>
                  </a:lnTo>
                  <a:lnTo>
                    <a:pt x="13066" y="397600"/>
                  </a:lnTo>
                  <a:lnTo>
                    <a:pt x="28681" y="438559"/>
                  </a:lnTo>
                  <a:lnTo>
                    <a:pt x="49714" y="476483"/>
                  </a:lnTo>
                  <a:lnTo>
                    <a:pt x="75687" y="510896"/>
                  </a:lnTo>
                  <a:lnTo>
                    <a:pt x="106121" y="541321"/>
                  </a:lnTo>
                  <a:lnTo>
                    <a:pt x="140538" y="567283"/>
                  </a:lnTo>
                  <a:lnTo>
                    <a:pt x="178461" y="588305"/>
                  </a:lnTo>
                  <a:lnTo>
                    <a:pt x="219412" y="603910"/>
                  </a:lnTo>
                  <a:lnTo>
                    <a:pt x="262911" y="613622"/>
                  </a:lnTo>
                  <a:lnTo>
                    <a:pt x="308483" y="616965"/>
                  </a:lnTo>
                  <a:lnTo>
                    <a:pt x="354085" y="613622"/>
                  </a:lnTo>
                  <a:lnTo>
                    <a:pt x="397611" y="603910"/>
                  </a:lnTo>
                  <a:lnTo>
                    <a:pt x="438582" y="588305"/>
                  </a:lnTo>
                  <a:lnTo>
                    <a:pt x="476521" y="567283"/>
                  </a:lnTo>
                  <a:lnTo>
                    <a:pt x="510951" y="541321"/>
                  </a:lnTo>
                  <a:lnTo>
                    <a:pt x="541393" y="510896"/>
                  </a:lnTo>
                  <a:lnTo>
                    <a:pt x="567372" y="476483"/>
                  </a:lnTo>
                  <a:lnTo>
                    <a:pt x="588408" y="438559"/>
                  </a:lnTo>
                  <a:lnTo>
                    <a:pt x="604026" y="397600"/>
                  </a:lnTo>
                  <a:lnTo>
                    <a:pt x="613746" y="354082"/>
                  </a:lnTo>
                  <a:lnTo>
                    <a:pt x="617093" y="308483"/>
                  </a:lnTo>
                  <a:lnTo>
                    <a:pt x="613746" y="262883"/>
                  </a:lnTo>
                  <a:lnTo>
                    <a:pt x="604026" y="219365"/>
                  </a:lnTo>
                  <a:lnTo>
                    <a:pt x="588408" y="178406"/>
                  </a:lnTo>
                  <a:lnTo>
                    <a:pt x="567372" y="140482"/>
                  </a:lnTo>
                  <a:lnTo>
                    <a:pt x="541393" y="106069"/>
                  </a:lnTo>
                  <a:lnTo>
                    <a:pt x="510951" y="75644"/>
                  </a:lnTo>
                  <a:lnTo>
                    <a:pt x="476521" y="49682"/>
                  </a:lnTo>
                  <a:lnTo>
                    <a:pt x="438582" y="28660"/>
                  </a:lnTo>
                  <a:lnTo>
                    <a:pt x="397611" y="13055"/>
                  </a:lnTo>
                  <a:lnTo>
                    <a:pt x="354085" y="3343"/>
                  </a:lnTo>
                  <a:lnTo>
                    <a:pt x="308483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777103" y="3594862"/>
              <a:ext cx="617220" cy="617220"/>
            </a:xfrm>
            <a:custGeom>
              <a:avLst/>
              <a:gdLst/>
              <a:ahLst/>
              <a:cxnLst/>
              <a:rect l="l" t="t" r="r" b="b"/>
              <a:pathLst>
                <a:path w="617220" h="617220">
                  <a:moveTo>
                    <a:pt x="0" y="308483"/>
                  </a:moveTo>
                  <a:lnTo>
                    <a:pt x="3346" y="262883"/>
                  </a:lnTo>
                  <a:lnTo>
                    <a:pt x="13066" y="219365"/>
                  </a:lnTo>
                  <a:lnTo>
                    <a:pt x="28681" y="178406"/>
                  </a:lnTo>
                  <a:lnTo>
                    <a:pt x="49714" y="140482"/>
                  </a:lnTo>
                  <a:lnTo>
                    <a:pt x="75687" y="106069"/>
                  </a:lnTo>
                  <a:lnTo>
                    <a:pt x="106121" y="75644"/>
                  </a:lnTo>
                  <a:lnTo>
                    <a:pt x="140538" y="49682"/>
                  </a:lnTo>
                  <a:lnTo>
                    <a:pt x="178461" y="28660"/>
                  </a:lnTo>
                  <a:lnTo>
                    <a:pt x="219412" y="13055"/>
                  </a:lnTo>
                  <a:lnTo>
                    <a:pt x="262911" y="3343"/>
                  </a:lnTo>
                  <a:lnTo>
                    <a:pt x="308483" y="0"/>
                  </a:lnTo>
                  <a:lnTo>
                    <a:pt x="354085" y="3343"/>
                  </a:lnTo>
                  <a:lnTo>
                    <a:pt x="397611" y="13055"/>
                  </a:lnTo>
                  <a:lnTo>
                    <a:pt x="438582" y="28660"/>
                  </a:lnTo>
                  <a:lnTo>
                    <a:pt x="476521" y="49682"/>
                  </a:lnTo>
                  <a:lnTo>
                    <a:pt x="510951" y="75644"/>
                  </a:lnTo>
                  <a:lnTo>
                    <a:pt x="541393" y="106069"/>
                  </a:lnTo>
                  <a:lnTo>
                    <a:pt x="567372" y="140482"/>
                  </a:lnTo>
                  <a:lnTo>
                    <a:pt x="588408" y="178406"/>
                  </a:lnTo>
                  <a:lnTo>
                    <a:pt x="604026" y="219365"/>
                  </a:lnTo>
                  <a:lnTo>
                    <a:pt x="613746" y="262883"/>
                  </a:lnTo>
                  <a:lnTo>
                    <a:pt x="617093" y="308483"/>
                  </a:lnTo>
                  <a:lnTo>
                    <a:pt x="613746" y="354082"/>
                  </a:lnTo>
                  <a:lnTo>
                    <a:pt x="604026" y="397600"/>
                  </a:lnTo>
                  <a:lnTo>
                    <a:pt x="588408" y="438559"/>
                  </a:lnTo>
                  <a:lnTo>
                    <a:pt x="567372" y="476483"/>
                  </a:lnTo>
                  <a:lnTo>
                    <a:pt x="541393" y="510896"/>
                  </a:lnTo>
                  <a:lnTo>
                    <a:pt x="510951" y="541321"/>
                  </a:lnTo>
                  <a:lnTo>
                    <a:pt x="476521" y="567283"/>
                  </a:lnTo>
                  <a:lnTo>
                    <a:pt x="438582" y="588305"/>
                  </a:lnTo>
                  <a:lnTo>
                    <a:pt x="397611" y="603910"/>
                  </a:lnTo>
                  <a:lnTo>
                    <a:pt x="354085" y="613622"/>
                  </a:lnTo>
                  <a:lnTo>
                    <a:pt x="308483" y="616965"/>
                  </a:lnTo>
                  <a:lnTo>
                    <a:pt x="262911" y="613622"/>
                  </a:lnTo>
                  <a:lnTo>
                    <a:pt x="219412" y="603910"/>
                  </a:lnTo>
                  <a:lnTo>
                    <a:pt x="178461" y="588305"/>
                  </a:lnTo>
                  <a:lnTo>
                    <a:pt x="140538" y="567283"/>
                  </a:lnTo>
                  <a:lnTo>
                    <a:pt x="106121" y="541321"/>
                  </a:lnTo>
                  <a:lnTo>
                    <a:pt x="75687" y="510896"/>
                  </a:lnTo>
                  <a:lnTo>
                    <a:pt x="49714" y="476483"/>
                  </a:lnTo>
                  <a:lnTo>
                    <a:pt x="28681" y="438559"/>
                  </a:lnTo>
                  <a:lnTo>
                    <a:pt x="13066" y="397600"/>
                  </a:lnTo>
                  <a:lnTo>
                    <a:pt x="3346" y="354082"/>
                  </a:lnTo>
                  <a:lnTo>
                    <a:pt x="0" y="308483"/>
                  </a:lnTo>
                  <a:close/>
                </a:path>
              </a:pathLst>
            </a:custGeom>
            <a:ln w="1524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934583" y="3778757"/>
            <a:ext cx="146050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195" dirty="0">
                <a:solidFill>
                  <a:srgbClr val="E1E6E9"/>
                </a:solidFill>
                <a:latin typeface="Cambria"/>
                <a:cs typeface="Cambria"/>
              </a:rPr>
              <a:t>1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32138" y="2393645"/>
            <a:ext cx="5198110" cy="2157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8165">
              <a:lnSpc>
                <a:spcPct val="100000"/>
              </a:lnSpc>
              <a:spcBef>
                <a:spcPts val="100"/>
              </a:spcBef>
            </a:pPr>
            <a:r>
              <a:rPr sz="2400" spc="195" dirty="0">
                <a:solidFill>
                  <a:srgbClr val="E1E6E9"/>
                </a:solidFill>
                <a:latin typeface="Cambria"/>
                <a:cs typeface="Cambria"/>
              </a:rPr>
              <a:t>Methodology</a:t>
            </a:r>
            <a:r>
              <a:rPr sz="2400" spc="4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2400" spc="190" dirty="0">
                <a:solidFill>
                  <a:srgbClr val="E1E6E9"/>
                </a:solidFill>
                <a:latin typeface="Cambria"/>
                <a:cs typeface="Cambria"/>
              </a:rPr>
              <a:t>Improvements</a:t>
            </a:r>
            <a:endParaRPr sz="2400">
              <a:latin typeface="Cambria"/>
              <a:cs typeface="Cambria"/>
            </a:endParaRPr>
          </a:p>
          <a:p>
            <a:pPr marL="12700" marR="5080">
              <a:lnSpc>
                <a:spcPct val="129200"/>
              </a:lnSpc>
              <a:spcBef>
                <a:spcPts val="1500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Introducing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more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granular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features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such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pass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types,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pressing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intensity,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player</a:t>
            </a:r>
            <a:r>
              <a:rPr sz="20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heatmaps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can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provide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deeper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context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enable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richer,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more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accurate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analysis.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08752" y="3326384"/>
            <a:ext cx="3613150" cy="3613150"/>
            <a:chOff x="5508752" y="3326384"/>
            <a:chExt cx="3613150" cy="361315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8752" y="3326384"/>
              <a:ext cx="3612769" cy="361276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236077" y="3594862"/>
              <a:ext cx="617220" cy="617220"/>
            </a:xfrm>
            <a:custGeom>
              <a:avLst/>
              <a:gdLst/>
              <a:ahLst/>
              <a:cxnLst/>
              <a:rect l="l" t="t" r="r" b="b"/>
              <a:pathLst>
                <a:path w="617220" h="617220">
                  <a:moveTo>
                    <a:pt x="308482" y="0"/>
                  </a:moveTo>
                  <a:lnTo>
                    <a:pt x="262883" y="3343"/>
                  </a:lnTo>
                  <a:lnTo>
                    <a:pt x="219365" y="13055"/>
                  </a:lnTo>
                  <a:lnTo>
                    <a:pt x="178406" y="28660"/>
                  </a:lnTo>
                  <a:lnTo>
                    <a:pt x="140482" y="49682"/>
                  </a:lnTo>
                  <a:lnTo>
                    <a:pt x="106069" y="75644"/>
                  </a:lnTo>
                  <a:lnTo>
                    <a:pt x="75644" y="106069"/>
                  </a:lnTo>
                  <a:lnTo>
                    <a:pt x="49682" y="140482"/>
                  </a:lnTo>
                  <a:lnTo>
                    <a:pt x="28660" y="178406"/>
                  </a:lnTo>
                  <a:lnTo>
                    <a:pt x="13055" y="219365"/>
                  </a:lnTo>
                  <a:lnTo>
                    <a:pt x="3343" y="262883"/>
                  </a:lnTo>
                  <a:lnTo>
                    <a:pt x="0" y="308483"/>
                  </a:lnTo>
                  <a:lnTo>
                    <a:pt x="3343" y="354082"/>
                  </a:lnTo>
                  <a:lnTo>
                    <a:pt x="13055" y="397600"/>
                  </a:lnTo>
                  <a:lnTo>
                    <a:pt x="28660" y="438559"/>
                  </a:lnTo>
                  <a:lnTo>
                    <a:pt x="49682" y="476483"/>
                  </a:lnTo>
                  <a:lnTo>
                    <a:pt x="75644" y="510896"/>
                  </a:lnTo>
                  <a:lnTo>
                    <a:pt x="106069" y="541321"/>
                  </a:lnTo>
                  <a:lnTo>
                    <a:pt x="140482" y="567283"/>
                  </a:lnTo>
                  <a:lnTo>
                    <a:pt x="178406" y="588305"/>
                  </a:lnTo>
                  <a:lnTo>
                    <a:pt x="219365" y="603910"/>
                  </a:lnTo>
                  <a:lnTo>
                    <a:pt x="262883" y="613622"/>
                  </a:lnTo>
                  <a:lnTo>
                    <a:pt x="308482" y="616965"/>
                  </a:lnTo>
                  <a:lnTo>
                    <a:pt x="354054" y="613622"/>
                  </a:lnTo>
                  <a:lnTo>
                    <a:pt x="397553" y="603910"/>
                  </a:lnTo>
                  <a:lnTo>
                    <a:pt x="438504" y="588305"/>
                  </a:lnTo>
                  <a:lnTo>
                    <a:pt x="476427" y="567283"/>
                  </a:lnTo>
                  <a:lnTo>
                    <a:pt x="510844" y="541321"/>
                  </a:lnTo>
                  <a:lnTo>
                    <a:pt x="541278" y="510896"/>
                  </a:lnTo>
                  <a:lnTo>
                    <a:pt x="567251" y="476483"/>
                  </a:lnTo>
                  <a:lnTo>
                    <a:pt x="588284" y="438559"/>
                  </a:lnTo>
                  <a:lnTo>
                    <a:pt x="603899" y="397600"/>
                  </a:lnTo>
                  <a:lnTo>
                    <a:pt x="613619" y="354082"/>
                  </a:lnTo>
                  <a:lnTo>
                    <a:pt x="616966" y="308483"/>
                  </a:lnTo>
                  <a:lnTo>
                    <a:pt x="613619" y="262883"/>
                  </a:lnTo>
                  <a:lnTo>
                    <a:pt x="603899" y="219365"/>
                  </a:lnTo>
                  <a:lnTo>
                    <a:pt x="588284" y="178406"/>
                  </a:lnTo>
                  <a:lnTo>
                    <a:pt x="567251" y="140482"/>
                  </a:lnTo>
                  <a:lnTo>
                    <a:pt x="541278" y="106069"/>
                  </a:lnTo>
                  <a:lnTo>
                    <a:pt x="510844" y="75644"/>
                  </a:lnTo>
                  <a:lnTo>
                    <a:pt x="476427" y="49682"/>
                  </a:lnTo>
                  <a:lnTo>
                    <a:pt x="438504" y="28660"/>
                  </a:lnTo>
                  <a:lnTo>
                    <a:pt x="397553" y="13055"/>
                  </a:lnTo>
                  <a:lnTo>
                    <a:pt x="354054" y="3343"/>
                  </a:lnTo>
                  <a:lnTo>
                    <a:pt x="308482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236077" y="3594862"/>
              <a:ext cx="617220" cy="617220"/>
            </a:xfrm>
            <a:custGeom>
              <a:avLst/>
              <a:gdLst/>
              <a:ahLst/>
              <a:cxnLst/>
              <a:rect l="l" t="t" r="r" b="b"/>
              <a:pathLst>
                <a:path w="617220" h="617220">
                  <a:moveTo>
                    <a:pt x="0" y="308483"/>
                  </a:moveTo>
                  <a:lnTo>
                    <a:pt x="3343" y="262883"/>
                  </a:lnTo>
                  <a:lnTo>
                    <a:pt x="13055" y="219365"/>
                  </a:lnTo>
                  <a:lnTo>
                    <a:pt x="28660" y="178406"/>
                  </a:lnTo>
                  <a:lnTo>
                    <a:pt x="49682" y="140482"/>
                  </a:lnTo>
                  <a:lnTo>
                    <a:pt x="75644" y="106069"/>
                  </a:lnTo>
                  <a:lnTo>
                    <a:pt x="106069" y="75644"/>
                  </a:lnTo>
                  <a:lnTo>
                    <a:pt x="140482" y="49682"/>
                  </a:lnTo>
                  <a:lnTo>
                    <a:pt x="178406" y="28660"/>
                  </a:lnTo>
                  <a:lnTo>
                    <a:pt x="219365" y="13055"/>
                  </a:lnTo>
                  <a:lnTo>
                    <a:pt x="262883" y="3343"/>
                  </a:lnTo>
                  <a:lnTo>
                    <a:pt x="308482" y="0"/>
                  </a:lnTo>
                  <a:lnTo>
                    <a:pt x="354054" y="3343"/>
                  </a:lnTo>
                  <a:lnTo>
                    <a:pt x="397553" y="13055"/>
                  </a:lnTo>
                  <a:lnTo>
                    <a:pt x="438504" y="28660"/>
                  </a:lnTo>
                  <a:lnTo>
                    <a:pt x="476427" y="49682"/>
                  </a:lnTo>
                  <a:lnTo>
                    <a:pt x="510844" y="75644"/>
                  </a:lnTo>
                  <a:lnTo>
                    <a:pt x="541278" y="106069"/>
                  </a:lnTo>
                  <a:lnTo>
                    <a:pt x="567251" y="140482"/>
                  </a:lnTo>
                  <a:lnTo>
                    <a:pt x="588284" y="178406"/>
                  </a:lnTo>
                  <a:lnTo>
                    <a:pt x="603899" y="219365"/>
                  </a:lnTo>
                  <a:lnTo>
                    <a:pt x="613619" y="262883"/>
                  </a:lnTo>
                  <a:lnTo>
                    <a:pt x="616966" y="308483"/>
                  </a:lnTo>
                  <a:lnTo>
                    <a:pt x="613619" y="354082"/>
                  </a:lnTo>
                  <a:lnTo>
                    <a:pt x="603899" y="397600"/>
                  </a:lnTo>
                  <a:lnTo>
                    <a:pt x="588284" y="438559"/>
                  </a:lnTo>
                  <a:lnTo>
                    <a:pt x="567251" y="476483"/>
                  </a:lnTo>
                  <a:lnTo>
                    <a:pt x="541278" y="510896"/>
                  </a:lnTo>
                  <a:lnTo>
                    <a:pt x="510844" y="541321"/>
                  </a:lnTo>
                  <a:lnTo>
                    <a:pt x="476427" y="567283"/>
                  </a:lnTo>
                  <a:lnTo>
                    <a:pt x="438504" y="588305"/>
                  </a:lnTo>
                  <a:lnTo>
                    <a:pt x="397553" y="603910"/>
                  </a:lnTo>
                  <a:lnTo>
                    <a:pt x="354054" y="613622"/>
                  </a:lnTo>
                  <a:lnTo>
                    <a:pt x="308482" y="616965"/>
                  </a:lnTo>
                  <a:lnTo>
                    <a:pt x="262883" y="613622"/>
                  </a:lnTo>
                  <a:lnTo>
                    <a:pt x="219365" y="603910"/>
                  </a:lnTo>
                  <a:lnTo>
                    <a:pt x="178406" y="588305"/>
                  </a:lnTo>
                  <a:lnTo>
                    <a:pt x="140482" y="567283"/>
                  </a:lnTo>
                  <a:lnTo>
                    <a:pt x="106069" y="541321"/>
                  </a:lnTo>
                  <a:lnTo>
                    <a:pt x="75644" y="510896"/>
                  </a:lnTo>
                  <a:lnTo>
                    <a:pt x="49682" y="476483"/>
                  </a:lnTo>
                  <a:lnTo>
                    <a:pt x="28660" y="438559"/>
                  </a:lnTo>
                  <a:lnTo>
                    <a:pt x="13055" y="397600"/>
                  </a:lnTo>
                  <a:lnTo>
                    <a:pt x="3343" y="354082"/>
                  </a:lnTo>
                  <a:lnTo>
                    <a:pt x="0" y="308483"/>
                  </a:lnTo>
                  <a:close/>
                </a:path>
              </a:pathLst>
            </a:custGeom>
            <a:ln w="1524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393683" y="3778757"/>
            <a:ext cx="18859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45" dirty="0">
                <a:solidFill>
                  <a:srgbClr val="E1E6E9"/>
                </a:solidFill>
                <a:latin typeface="Cambria"/>
                <a:cs typeface="Cambria"/>
              </a:rPr>
              <a:t>2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277093" y="5227066"/>
            <a:ext cx="26549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85" dirty="0">
                <a:solidFill>
                  <a:srgbClr val="E1E6E9"/>
                </a:solidFill>
                <a:latin typeface="Cambria"/>
                <a:cs typeface="Cambria"/>
              </a:rPr>
              <a:t>New</a:t>
            </a:r>
            <a:r>
              <a:rPr sz="2400" spc="3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2400" spc="155" dirty="0">
                <a:solidFill>
                  <a:srgbClr val="E1E6E9"/>
                </a:solidFill>
                <a:latin typeface="Cambria"/>
                <a:cs typeface="Cambria"/>
              </a:rPr>
              <a:t>Applications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415018" y="5805017"/>
            <a:ext cx="4899660" cy="19932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9200"/>
              </a:lnSpc>
              <a:spcBef>
                <a:spcPts val="95"/>
              </a:spcBef>
            </a:pP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Integrate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into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second-screen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experiences,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offering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real-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tactical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insights, player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heatmaps,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strategy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breakdowns</a:t>
            </a:r>
            <a:r>
              <a:rPr sz="20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as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matches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unfold—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ideal</a:t>
            </a:r>
            <a:r>
              <a:rPr sz="20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broadcasters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engaged</a:t>
            </a:r>
            <a:r>
              <a:rPr sz="2000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fans.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508752" y="3326384"/>
            <a:ext cx="3613150" cy="3613150"/>
            <a:chOff x="5508752" y="3326384"/>
            <a:chExt cx="3613150" cy="361315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08752" y="3326384"/>
              <a:ext cx="3612769" cy="361276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236077" y="6053709"/>
              <a:ext cx="617220" cy="617220"/>
            </a:xfrm>
            <a:custGeom>
              <a:avLst/>
              <a:gdLst/>
              <a:ahLst/>
              <a:cxnLst/>
              <a:rect l="l" t="t" r="r" b="b"/>
              <a:pathLst>
                <a:path w="617220" h="617220">
                  <a:moveTo>
                    <a:pt x="308482" y="0"/>
                  </a:moveTo>
                  <a:lnTo>
                    <a:pt x="262883" y="3346"/>
                  </a:lnTo>
                  <a:lnTo>
                    <a:pt x="219365" y="13066"/>
                  </a:lnTo>
                  <a:lnTo>
                    <a:pt x="178406" y="28681"/>
                  </a:lnTo>
                  <a:lnTo>
                    <a:pt x="140482" y="49714"/>
                  </a:lnTo>
                  <a:lnTo>
                    <a:pt x="106069" y="75687"/>
                  </a:lnTo>
                  <a:lnTo>
                    <a:pt x="75644" y="106121"/>
                  </a:lnTo>
                  <a:lnTo>
                    <a:pt x="49682" y="140538"/>
                  </a:lnTo>
                  <a:lnTo>
                    <a:pt x="28660" y="178461"/>
                  </a:lnTo>
                  <a:lnTo>
                    <a:pt x="13055" y="219412"/>
                  </a:lnTo>
                  <a:lnTo>
                    <a:pt x="3343" y="262911"/>
                  </a:lnTo>
                  <a:lnTo>
                    <a:pt x="0" y="308483"/>
                  </a:lnTo>
                  <a:lnTo>
                    <a:pt x="3343" y="354082"/>
                  </a:lnTo>
                  <a:lnTo>
                    <a:pt x="13055" y="397600"/>
                  </a:lnTo>
                  <a:lnTo>
                    <a:pt x="28660" y="438559"/>
                  </a:lnTo>
                  <a:lnTo>
                    <a:pt x="49682" y="476483"/>
                  </a:lnTo>
                  <a:lnTo>
                    <a:pt x="75644" y="510896"/>
                  </a:lnTo>
                  <a:lnTo>
                    <a:pt x="106069" y="541321"/>
                  </a:lnTo>
                  <a:lnTo>
                    <a:pt x="140482" y="567283"/>
                  </a:lnTo>
                  <a:lnTo>
                    <a:pt x="178406" y="588305"/>
                  </a:lnTo>
                  <a:lnTo>
                    <a:pt x="219365" y="603910"/>
                  </a:lnTo>
                  <a:lnTo>
                    <a:pt x="262883" y="613622"/>
                  </a:lnTo>
                  <a:lnTo>
                    <a:pt x="308482" y="616966"/>
                  </a:lnTo>
                  <a:lnTo>
                    <a:pt x="354054" y="613622"/>
                  </a:lnTo>
                  <a:lnTo>
                    <a:pt x="397553" y="603910"/>
                  </a:lnTo>
                  <a:lnTo>
                    <a:pt x="438504" y="588305"/>
                  </a:lnTo>
                  <a:lnTo>
                    <a:pt x="476427" y="567283"/>
                  </a:lnTo>
                  <a:lnTo>
                    <a:pt x="510844" y="541321"/>
                  </a:lnTo>
                  <a:lnTo>
                    <a:pt x="541278" y="510896"/>
                  </a:lnTo>
                  <a:lnTo>
                    <a:pt x="567251" y="476483"/>
                  </a:lnTo>
                  <a:lnTo>
                    <a:pt x="588284" y="438559"/>
                  </a:lnTo>
                  <a:lnTo>
                    <a:pt x="603899" y="397600"/>
                  </a:lnTo>
                  <a:lnTo>
                    <a:pt x="613619" y="354082"/>
                  </a:lnTo>
                  <a:lnTo>
                    <a:pt x="616966" y="308483"/>
                  </a:lnTo>
                  <a:lnTo>
                    <a:pt x="613619" y="262911"/>
                  </a:lnTo>
                  <a:lnTo>
                    <a:pt x="603899" y="219412"/>
                  </a:lnTo>
                  <a:lnTo>
                    <a:pt x="588284" y="178461"/>
                  </a:lnTo>
                  <a:lnTo>
                    <a:pt x="567251" y="140538"/>
                  </a:lnTo>
                  <a:lnTo>
                    <a:pt x="541278" y="106121"/>
                  </a:lnTo>
                  <a:lnTo>
                    <a:pt x="510844" y="75687"/>
                  </a:lnTo>
                  <a:lnTo>
                    <a:pt x="476427" y="49714"/>
                  </a:lnTo>
                  <a:lnTo>
                    <a:pt x="438504" y="28681"/>
                  </a:lnTo>
                  <a:lnTo>
                    <a:pt x="397553" y="13066"/>
                  </a:lnTo>
                  <a:lnTo>
                    <a:pt x="354054" y="3346"/>
                  </a:lnTo>
                  <a:lnTo>
                    <a:pt x="308482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236077" y="6053709"/>
              <a:ext cx="617220" cy="617220"/>
            </a:xfrm>
            <a:custGeom>
              <a:avLst/>
              <a:gdLst/>
              <a:ahLst/>
              <a:cxnLst/>
              <a:rect l="l" t="t" r="r" b="b"/>
              <a:pathLst>
                <a:path w="617220" h="617220">
                  <a:moveTo>
                    <a:pt x="0" y="308483"/>
                  </a:moveTo>
                  <a:lnTo>
                    <a:pt x="3343" y="262911"/>
                  </a:lnTo>
                  <a:lnTo>
                    <a:pt x="13055" y="219412"/>
                  </a:lnTo>
                  <a:lnTo>
                    <a:pt x="28660" y="178461"/>
                  </a:lnTo>
                  <a:lnTo>
                    <a:pt x="49682" y="140538"/>
                  </a:lnTo>
                  <a:lnTo>
                    <a:pt x="75644" y="106121"/>
                  </a:lnTo>
                  <a:lnTo>
                    <a:pt x="106069" y="75687"/>
                  </a:lnTo>
                  <a:lnTo>
                    <a:pt x="140482" y="49714"/>
                  </a:lnTo>
                  <a:lnTo>
                    <a:pt x="178406" y="28681"/>
                  </a:lnTo>
                  <a:lnTo>
                    <a:pt x="219365" y="13066"/>
                  </a:lnTo>
                  <a:lnTo>
                    <a:pt x="262883" y="3346"/>
                  </a:lnTo>
                  <a:lnTo>
                    <a:pt x="308482" y="0"/>
                  </a:lnTo>
                  <a:lnTo>
                    <a:pt x="354054" y="3346"/>
                  </a:lnTo>
                  <a:lnTo>
                    <a:pt x="397553" y="13066"/>
                  </a:lnTo>
                  <a:lnTo>
                    <a:pt x="438504" y="28681"/>
                  </a:lnTo>
                  <a:lnTo>
                    <a:pt x="476427" y="49714"/>
                  </a:lnTo>
                  <a:lnTo>
                    <a:pt x="510844" y="75687"/>
                  </a:lnTo>
                  <a:lnTo>
                    <a:pt x="541278" y="106121"/>
                  </a:lnTo>
                  <a:lnTo>
                    <a:pt x="567251" y="140538"/>
                  </a:lnTo>
                  <a:lnTo>
                    <a:pt x="588284" y="178461"/>
                  </a:lnTo>
                  <a:lnTo>
                    <a:pt x="603899" y="219412"/>
                  </a:lnTo>
                  <a:lnTo>
                    <a:pt x="613619" y="262911"/>
                  </a:lnTo>
                  <a:lnTo>
                    <a:pt x="616966" y="308483"/>
                  </a:lnTo>
                  <a:lnTo>
                    <a:pt x="613619" y="354082"/>
                  </a:lnTo>
                  <a:lnTo>
                    <a:pt x="603899" y="397600"/>
                  </a:lnTo>
                  <a:lnTo>
                    <a:pt x="588284" y="438559"/>
                  </a:lnTo>
                  <a:lnTo>
                    <a:pt x="567251" y="476483"/>
                  </a:lnTo>
                  <a:lnTo>
                    <a:pt x="541278" y="510896"/>
                  </a:lnTo>
                  <a:lnTo>
                    <a:pt x="510844" y="541321"/>
                  </a:lnTo>
                  <a:lnTo>
                    <a:pt x="476427" y="567283"/>
                  </a:lnTo>
                  <a:lnTo>
                    <a:pt x="438504" y="588305"/>
                  </a:lnTo>
                  <a:lnTo>
                    <a:pt x="397553" y="603910"/>
                  </a:lnTo>
                  <a:lnTo>
                    <a:pt x="354054" y="613622"/>
                  </a:lnTo>
                  <a:lnTo>
                    <a:pt x="308482" y="616966"/>
                  </a:lnTo>
                  <a:lnTo>
                    <a:pt x="262883" y="613622"/>
                  </a:lnTo>
                  <a:lnTo>
                    <a:pt x="219365" y="603910"/>
                  </a:lnTo>
                  <a:lnTo>
                    <a:pt x="178406" y="588305"/>
                  </a:lnTo>
                  <a:lnTo>
                    <a:pt x="140482" y="567283"/>
                  </a:lnTo>
                  <a:lnTo>
                    <a:pt x="106069" y="541321"/>
                  </a:lnTo>
                  <a:lnTo>
                    <a:pt x="75644" y="510896"/>
                  </a:lnTo>
                  <a:lnTo>
                    <a:pt x="49682" y="476483"/>
                  </a:lnTo>
                  <a:lnTo>
                    <a:pt x="28660" y="438559"/>
                  </a:lnTo>
                  <a:lnTo>
                    <a:pt x="13055" y="397600"/>
                  </a:lnTo>
                  <a:lnTo>
                    <a:pt x="3343" y="354082"/>
                  </a:lnTo>
                  <a:lnTo>
                    <a:pt x="0" y="308483"/>
                  </a:lnTo>
                  <a:close/>
                </a:path>
              </a:pathLst>
            </a:custGeom>
            <a:ln w="1524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393683" y="6238113"/>
            <a:ext cx="17843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-50" dirty="0">
                <a:solidFill>
                  <a:srgbClr val="E1E6E9"/>
                </a:solidFill>
                <a:latin typeface="Cambria"/>
                <a:cs typeface="Cambria"/>
              </a:rPr>
              <a:t>3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30960" y="5537454"/>
            <a:ext cx="30619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5" dirty="0">
                <a:solidFill>
                  <a:srgbClr val="E1E6E9"/>
                </a:solidFill>
                <a:latin typeface="Cambria"/>
                <a:cs typeface="Cambria"/>
              </a:rPr>
              <a:t>Address</a:t>
            </a:r>
            <a:r>
              <a:rPr sz="2400" spc="50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2400" spc="175" dirty="0">
                <a:solidFill>
                  <a:srgbClr val="E1E6E9"/>
                </a:solidFill>
                <a:latin typeface="Cambria"/>
                <a:cs typeface="Cambria"/>
              </a:rPr>
              <a:t>Limitations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1048" y="6065367"/>
            <a:ext cx="5661025" cy="160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29200"/>
              </a:lnSpc>
              <a:spcBef>
                <a:spcPts val="95"/>
              </a:spcBef>
            </a:pP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model’s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accuracy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depth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heavily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influenced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quality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20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granularity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20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input</a:t>
            </a:r>
            <a:r>
              <a:rPr sz="20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data. Inconsistent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incomplete</a:t>
            </a:r>
            <a:r>
              <a:rPr sz="20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match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statistics</a:t>
            </a:r>
            <a:r>
              <a:rPr sz="20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lead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biased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shallow</a:t>
            </a:r>
            <a:r>
              <a:rPr sz="20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interpretations.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508752" y="3326384"/>
            <a:ext cx="3613150" cy="3613150"/>
            <a:chOff x="5508752" y="3326384"/>
            <a:chExt cx="3613150" cy="3613150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08752" y="3326384"/>
              <a:ext cx="3612769" cy="361276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777103" y="6053709"/>
              <a:ext cx="617220" cy="617220"/>
            </a:xfrm>
            <a:custGeom>
              <a:avLst/>
              <a:gdLst/>
              <a:ahLst/>
              <a:cxnLst/>
              <a:rect l="l" t="t" r="r" b="b"/>
              <a:pathLst>
                <a:path w="617220" h="617220">
                  <a:moveTo>
                    <a:pt x="308483" y="0"/>
                  </a:moveTo>
                  <a:lnTo>
                    <a:pt x="262911" y="3346"/>
                  </a:lnTo>
                  <a:lnTo>
                    <a:pt x="219412" y="13066"/>
                  </a:lnTo>
                  <a:lnTo>
                    <a:pt x="178461" y="28681"/>
                  </a:lnTo>
                  <a:lnTo>
                    <a:pt x="140538" y="49714"/>
                  </a:lnTo>
                  <a:lnTo>
                    <a:pt x="106121" y="75687"/>
                  </a:lnTo>
                  <a:lnTo>
                    <a:pt x="75687" y="106121"/>
                  </a:lnTo>
                  <a:lnTo>
                    <a:pt x="49714" y="140538"/>
                  </a:lnTo>
                  <a:lnTo>
                    <a:pt x="28681" y="178461"/>
                  </a:lnTo>
                  <a:lnTo>
                    <a:pt x="13066" y="219412"/>
                  </a:lnTo>
                  <a:lnTo>
                    <a:pt x="3346" y="262911"/>
                  </a:lnTo>
                  <a:lnTo>
                    <a:pt x="0" y="308483"/>
                  </a:lnTo>
                  <a:lnTo>
                    <a:pt x="3346" y="354082"/>
                  </a:lnTo>
                  <a:lnTo>
                    <a:pt x="13066" y="397600"/>
                  </a:lnTo>
                  <a:lnTo>
                    <a:pt x="28681" y="438559"/>
                  </a:lnTo>
                  <a:lnTo>
                    <a:pt x="49714" y="476483"/>
                  </a:lnTo>
                  <a:lnTo>
                    <a:pt x="75687" y="510896"/>
                  </a:lnTo>
                  <a:lnTo>
                    <a:pt x="106121" y="541321"/>
                  </a:lnTo>
                  <a:lnTo>
                    <a:pt x="140538" y="567283"/>
                  </a:lnTo>
                  <a:lnTo>
                    <a:pt x="178461" y="588305"/>
                  </a:lnTo>
                  <a:lnTo>
                    <a:pt x="219412" y="603910"/>
                  </a:lnTo>
                  <a:lnTo>
                    <a:pt x="262911" y="613622"/>
                  </a:lnTo>
                  <a:lnTo>
                    <a:pt x="308483" y="616966"/>
                  </a:lnTo>
                  <a:lnTo>
                    <a:pt x="354085" y="613622"/>
                  </a:lnTo>
                  <a:lnTo>
                    <a:pt x="397611" y="603910"/>
                  </a:lnTo>
                  <a:lnTo>
                    <a:pt x="438582" y="588305"/>
                  </a:lnTo>
                  <a:lnTo>
                    <a:pt x="476521" y="567283"/>
                  </a:lnTo>
                  <a:lnTo>
                    <a:pt x="510951" y="541321"/>
                  </a:lnTo>
                  <a:lnTo>
                    <a:pt x="541393" y="510896"/>
                  </a:lnTo>
                  <a:lnTo>
                    <a:pt x="567372" y="476483"/>
                  </a:lnTo>
                  <a:lnTo>
                    <a:pt x="588408" y="438559"/>
                  </a:lnTo>
                  <a:lnTo>
                    <a:pt x="604026" y="397600"/>
                  </a:lnTo>
                  <a:lnTo>
                    <a:pt x="613746" y="354082"/>
                  </a:lnTo>
                  <a:lnTo>
                    <a:pt x="617093" y="308483"/>
                  </a:lnTo>
                  <a:lnTo>
                    <a:pt x="613746" y="262911"/>
                  </a:lnTo>
                  <a:lnTo>
                    <a:pt x="604026" y="219412"/>
                  </a:lnTo>
                  <a:lnTo>
                    <a:pt x="588408" y="178461"/>
                  </a:lnTo>
                  <a:lnTo>
                    <a:pt x="567372" y="140538"/>
                  </a:lnTo>
                  <a:lnTo>
                    <a:pt x="541393" y="106121"/>
                  </a:lnTo>
                  <a:lnTo>
                    <a:pt x="510951" y="75687"/>
                  </a:lnTo>
                  <a:lnTo>
                    <a:pt x="476521" y="49714"/>
                  </a:lnTo>
                  <a:lnTo>
                    <a:pt x="438582" y="28681"/>
                  </a:lnTo>
                  <a:lnTo>
                    <a:pt x="397611" y="13066"/>
                  </a:lnTo>
                  <a:lnTo>
                    <a:pt x="354085" y="3346"/>
                  </a:lnTo>
                  <a:lnTo>
                    <a:pt x="308483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777103" y="6053709"/>
              <a:ext cx="617220" cy="617220"/>
            </a:xfrm>
            <a:custGeom>
              <a:avLst/>
              <a:gdLst/>
              <a:ahLst/>
              <a:cxnLst/>
              <a:rect l="l" t="t" r="r" b="b"/>
              <a:pathLst>
                <a:path w="617220" h="617220">
                  <a:moveTo>
                    <a:pt x="0" y="308483"/>
                  </a:moveTo>
                  <a:lnTo>
                    <a:pt x="3346" y="262911"/>
                  </a:lnTo>
                  <a:lnTo>
                    <a:pt x="13066" y="219412"/>
                  </a:lnTo>
                  <a:lnTo>
                    <a:pt x="28681" y="178461"/>
                  </a:lnTo>
                  <a:lnTo>
                    <a:pt x="49714" y="140538"/>
                  </a:lnTo>
                  <a:lnTo>
                    <a:pt x="75687" y="106121"/>
                  </a:lnTo>
                  <a:lnTo>
                    <a:pt x="106121" y="75687"/>
                  </a:lnTo>
                  <a:lnTo>
                    <a:pt x="140538" y="49714"/>
                  </a:lnTo>
                  <a:lnTo>
                    <a:pt x="178461" y="28681"/>
                  </a:lnTo>
                  <a:lnTo>
                    <a:pt x="219412" y="13066"/>
                  </a:lnTo>
                  <a:lnTo>
                    <a:pt x="262911" y="3346"/>
                  </a:lnTo>
                  <a:lnTo>
                    <a:pt x="308483" y="0"/>
                  </a:lnTo>
                  <a:lnTo>
                    <a:pt x="354085" y="3346"/>
                  </a:lnTo>
                  <a:lnTo>
                    <a:pt x="397611" y="13066"/>
                  </a:lnTo>
                  <a:lnTo>
                    <a:pt x="438582" y="28681"/>
                  </a:lnTo>
                  <a:lnTo>
                    <a:pt x="476521" y="49714"/>
                  </a:lnTo>
                  <a:lnTo>
                    <a:pt x="510951" y="75687"/>
                  </a:lnTo>
                  <a:lnTo>
                    <a:pt x="541393" y="106121"/>
                  </a:lnTo>
                  <a:lnTo>
                    <a:pt x="567372" y="140538"/>
                  </a:lnTo>
                  <a:lnTo>
                    <a:pt x="588408" y="178461"/>
                  </a:lnTo>
                  <a:lnTo>
                    <a:pt x="604026" y="219412"/>
                  </a:lnTo>
                  <a:lnTo>
                    <a:pt x="613746" y="262911"/>
                  </a:lnTo>
                  <a:lnTo>
                    <a:pt x="617093" y="308483"/>
                  </a:lnTo>
                  <a:lnTo>
                    <a:pt x="613746" y="354082"/>
                  </a:lnTo>
                  <a:lnTo>
                    <a:pt x="604026" y="397600"/>
                  </a:lnTo>
                  <a:lnTo>
                    <a:pt x="588408" y="438559"/>
                  </a:lnTo>
                  <a:lnTo>
                    <a:pt x="567372" y="476483"/>
                  </a:lnTo>
                  <a:lnTo>
                    <a:pt x="541393" y="510896"/>
                  </a:lnTo>
                  <a:lnTo>
                    <a:pt x="510951" y="541321"/>
                  </a:lnTo>
                  <a:lnTo>
                    <a:pt x="476521" y="567283"/>
                  </a:lnTo>
                  <a:lnTo>
                    <a:pt x="438582" y="588305"/>
                  </a:lnTo>
                  <a:lnTo>
                    <a:pt x="397611" y="603910"/>
                  </a:lnTo>
                  <a:lnTo>
                    <a:pt x="354085" y="613622"/>
                  </a:lnTo>
                  <a:lnTo>
                    <a:pt x="308483" y="616966"/>
                  </a:lnTo>
                  <a:lnTo>
                    <a:pt x="262911" y="613622"/>
                  </a:lnTo>
                  <a:lnTo>
                    <a:pt x="219412" y="603910"/>
                  </a:lnTo>
                  <a:lnTo>
                    <a:pt x="178461" y="588305"/>
                  </a:lnTo>
                  <a:lnTo>
                    <a:pt x="140538" y="567283"/>
                  </a:lnTo>
                  <a:lnTo>
                    <a:pt x="106121" y="541321"/>
                  </a:lnTo>
                  <a:lnTo>
                    <a:pt x="75687" y="510896"/>
                  </a:lnTo>
                  <a:lnTo>
                    <a:pt x="49714" y="476483"/>
                  </a:lnTo>
                  <a:lnTo>
                    <a:pt x="28681" y="438559"/>
                  </a:lnTo>
                  <a:lnTo>
                    <a:pt x="13066" y="397600"/>
                  </a:lnTo>
                  <a:lnTo>
                    <a:pt x="3346" y="354082"/>
                  </a:lnTo>
                  <a:lnTo>
                    <a:pt x="0" y="308483"/>
                  </a:lnTo>
                  <a:close/>
                </a:path>
              </a:pathLst>
            </a:custGeom>
            <a:ln w="1524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5934583" y="6238113"/>
            <a:ext cx="20129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spc="140" dirty="0">
                <a:solidFill>
                  <a:srgbClr val="E1E6E9"/>
                </a:solidFill>
                <a:latin typeface="Cambria"/>
                <a:cs typeface="Cambria"/>
              </a:rPr>
              <a:t>4</a:t>
            </a:r>
            <a:endParaRPr sz="21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4630399" cy="293319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08736" y="3535756"/>
            <a:ext cx="12223115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600" spc="355" dirty="0"/>
              <a:t>Conclusion:</a:t>
            </a:r>
            <a:r>
              <a:rPr sz="4600" spc="125" dirty="0"/>
              <a:t> </a:t>
            </a:r>
            <a:r>
              <a:rPr sz="4600" spc="320" dirty="0"/>
              <a:t>Key</a:t>
            </a:r>
            <a:r>
              <a:rPr sz="4600" spc="65" dirty="0"/>
              <a:t> </a:t>
            </a:r>
            <a:r>
              <a:rPr sz="4600" spc="330" dirty="0"/>
              <a:t>Contributions</a:t>
            </a:r>
            <a:r>
              <a:rPr sz="4600" spc="135" dirty="0"/>
              <a:t> </a:t>
            </a:r>
            <a:r>
              <a:rPr sz="4600" spc="365" dirty="0"/>
              <a:t>and</a:t>
            </a:r>
            <a:r>
              <a:rPr sz="4600" spc="70" dirty="0"/>
              <a:t> </a:t>
            </a:r>
            <a:r>
              <a:rPr sz="4600" spc="375" dirty="0"/>
              <a:t>Impact</a:t>
            </a:r>
            <a:endParaRPr sz="4600"/>
          </a:p>
        </p:txBody>
      </p:sp>
      <p:grpSp>
        <p:nvGrpSpPr>
          <p:cNvPr id="4" name="object 4"/>
          <p:cNvGrpSpPr/>
          <p:nvPr/>
        </p:nvGrpSpPr>
        <p:grpSpPr>
          <a:xfrm>
            <a:off x="817486" y="5363717"/>
            <a:ext cx="4102735" cy="242570"/>
            <a:chOff x="817486" y="5363717"/>
            <a:chExt cx="4102735" cy="242570"/>
          </a:xfrm>
        </p:grpSpPr>
        <p:sp>
          <p:nvSpPr>
            <p:cNvPr id="5" name="object 5"/>
            <p:cNvSpPr/>
            <p:nvPr/>
          </p:nvSpPr>
          <p:spPr>
            <a:xfrm>
              <a:off x="821296" y="5367527"/>
              <a:ext cx="4095115" cy="234950"/>
            </a:xfrm>
            <a:custGeom>
              <a:avLst/>
              <a:gdLst/>
              <a:ahLst/>
              <a:cxnLst/>
              <a:rect l="l" t="t" r="r" b="b"/>
              <a:pathLst>
                <a:path w="4095115" h="234950">
                  <a:moveTo>
                    <a:pt x="3995940" y="0"/>
                  </a:moveTo>
                  <a:lnTo>
                    <a:pt x="98552" y="0"/>
                  </a:lnTo>
                  <a:lnTo>
                    <a:pt x="60189" y="7754"/>
                  </a:lnTo>
                  <a:lnTo>
                    <a:pt x="28863" y="28892"/>
                  </a:lnTo>
                  <a:lnTo>
                    <a:pt x="7744" y="60221"/>
                  </a:lnTo>
                  <a:lnTo>
                    <a:pt x="0" y="98552"/>
                  </a:lnTo>
                  <a:lnTo>
                    <a:pt x="0" y="136017"/>
                  </a:lnTo>
                  <a:lnTo>
                    <a:pt x="7744" y="174400"/>
                  </a:lnTo>
                  <a:lnTo>
                    <a:pt x="28863" y="205724"/>
                  </a:lnTo>
                  <a:lnTo>
                    <a:pt x="60189" y="226831"/>
                  </a:lnTo>
                  <a:lnTo>
                    <a:pt x="98552" y="234569"/>
                  </a:lnTo>
                  <a:lnTo>
                    <a:pt x="3995940" y="234569"/>
                  </a:lnTo>
                  <a:lnTo>
                    <a:pt x="4034324" y="226831"/>
                  </a:lnTo>
                  <a:lnTo>
                    <a:pt x="4065647" y="205724"/>
                  </a:lnTo>
                  <a:lnTo>
                    <a:pt x="4086755" y="174400"/>
                  </a:lnTo>
                  <a:lnTo>
                    <a:pt x="4094492" y="136017"/>
                  </a:lnTo>
                  <a:lnTo>
                    <a:pt x="4094492" y="98552"/>
                  </a:lnTo>
                  <a:lnTo>
                    <a:pt x="4086755" y="60221"/>
                  </a:lnTo>
                  <a:lnTo>
                    <a:pt x="4065647" y="28892"/>
                  </a:lnTo>
                  <a:lnTo>
                    <a:pt x="4034324" y="7754"/>
                  </a:lnTo>
                  <a:lnTo>
                    <a:pt x="3995940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21296" y="5367527"/>
              <a:ext cx="4095115" cy="234950"/>
            </a:xfrm>
            <a:custGeom>
              <a:avLst/>
              <a:gdLst/>
              <a:ahLst/>
              <a:cxnLst/>
              <a:rect l="l" t="t" r="r" b="b"/>
              <a:pathLst>
                <a:path w="4095115" h="234950">
                  <a:moveTo>
                    <a:pt x="0" y="98552"/>
                  </a:moveTo>
                  <a:lnTo>
                    <a:pt x="7744" y="60221"/>
                  </a:lnTo>
                  <a:lnTo>
                    <a:pt x="28863" y="28892"/>
                  </a:lnTo>
                  <a:lnTo>
                    <a:pt x="60189" y="7754"/>
                  </a:lnTo>
                  <a:lnTo>
                    <a:pt x="98552" y="0"/>
                  </a:lnTo>
                  <a:lnTo>
                    <a:pt x="3995940" y="0"/>
                  </a:lnTo>
                  <a:lnTo>
                    <a:pt x="4034324" y="7754"/>
                  </a:lnTo>
                  <a:lnTo>
                    <a:pt x="4065647" y="28892"/>
                  </a:lnTo>
                  <a:lnTo>
                    <a:pt x="4086755" y="60221"/>
                  </a:lnTo>
                  <a:lnTo>
                    <a:pt x="4094492" y="98552"/>
                  </a:lnTo>
                  <a:lnTo>
                    <a:pt x="4094492" y="136017"/>
                  </a:lnTo>
                  <a:lnTo>
                    <a:pt x="4086755" y="174400"/>
                  </a:lnTo>
                  <a:lnTo>
                    <a:pt x="4065647" y="205724"/>
                  </a:lnTo>
                  <a:lnTo>
                    <a:pt x="4034324" y="226831"/>
                  </a:lnTo>
                  <a:lnTo>
                    <a:pt x="3995940" y="234569"/>
                  </a:lnTo>
                  <a:lnTo>
                    <a:pt x="98552" y="234569"/>
                  </a:lnTo>
                  <a:lnTo>
                    <a:pt x="60189" y="226831"/>
                  </a:lnTo>
                  <a:lnTo>
                    <a:pt x="28863" y="205724"/>
                  </a:lnTo>
                  <a:lnTo>
                    <a:pt x="7744" y="174400"/>
                  </a:lnTo>
                  <a:lnTo>
                    <a:pt x="0" y="136017"/>
                  </a:lnTo>
                  <a:lnTo>
                    <a:pt x="0" y="98552"/>
                  </a:lnTo>
                  <a:close/>
                </a:path>
              </a:pathLst>
            </a:custGeom>
            <a:ln w="762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08736" y="5925692"/>
            <a:ext cx="190373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155" dirty="0">
                <a:solidFill>
                  <a:srgbClr val="E1E6E9"/>
                </a:solidFill>
                <a:latin typeface="Cambria"/>
                <a:cs typeface="Cambria"/>
              </a:rPr>
              <a:t>Key</a:t>
            </a:r>
            <a:r>
              <a:rPr sz="2300" spc="55" dirty="0">
                <a:solidFill>
                  <a:srgbClr val="E1E6E9"/>
                </a:solidFill>
                <a:latin typeface="Cambria"/>
                <a:cs typeface="Cambria"/>
              </a:rPr>
              <a:t> </a:t>
            </a:r>
            <a:r>
              <a:rPr sz="2300" spc="175" dirty="0">
                <a:solidFill>
                  <a:srgbClr val="E1E6E9"/>
                </a:solidFill>
                <a:latin typeface="Cambria"/>
                <a:cs typeface="Cambria"/>
              </a:rPr>
              <a:t>Findings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5627" y="6592899"/>
            <a:ext cx="386016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performs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well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matches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various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leagues,</a:t>
            </a:r>
            <a:r>
              <a:rPr sz="1800" spc="-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showing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strong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potential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scalability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adaptation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footballing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contexts</a:t>
            </a:r>
            <a:r>
              <a:rPr sz="1800" spc="-7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styles.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264022" y="5011801"/>
            <a:ext cx="4102735" cy="242570"/>
            <a:chOff x="5264022" y="5011801"/>
            <a:chExt cx="4102735" cy="242570"/>
          </a:xfrm>
        </p:grpSpPr>
        <p:sp>
          <p:nvSpPr>
            <p:cNvPr id="10" name="object 10"/>
            <p:cNvSpPr/>
            <p:nvPr/>
          </p:nvSpPr>
          <p:spPr>
            <a:xfrm>
              <a:off x="5267832" y="5015611"/>
              <a:ext cx="4095115" cy="234950"/>
            </a:xfrm>
            <a:custGeom>
              <a:avLst/>
              <a:gdLst/>
              <a:ahLst/>
              <a:cxnLst/>
              <a:rect l="l" t="t" r="r" b="b"/>
              <a:pathLst>
                <a:path w="4095115" h="234950">
                  <a:moveTo>
                    <a:pt x="3996055" y="0"/>
                  </a:moveTo>
                  <a:lnTo>
                    <a:pt x="98551" y="0"/>
                  </a:lnTo>
                  <a:lnTo>
                    <a:pt x="60168" y="7754"/>
                  </a:lnTo>
                  <a:lnTo>
                    <a:pt x="28844" y="28892"/>
                  </a:lnTo>
                  <a:lnTo>
                    <a:pt x="7737" y="60221"/>
                  </a:lnTo>
                  <a:lnTo>
                    <a:pt x="0" y="98551"/>
                  </a:lnTo>
                  <a:lnTo>
                    <a:pt x="0" y="136016"/>
                  </a:lnTo>
                  <a:lnTo>
                    <a:pt x="7737" y="174400"/>
                  </a:lnTo>
                  <a:lnTo>
                    <a:pt x="28844" y="205724"/>
                  </a:lnTo>
                  <a:lnTo>
                    <a:pt x="60168" y="226831"/>
                  </a:lnTo>
                  <a:lnTo>
                    <a:pt x="98551" y="234569"/>
                  </a:lnTo>
                  <a:lnTo>
                    <a:pt x="3996055" y="234569"/>
                  </a:lnTo>
                  <a:lnTo>
                    <a:pt x="4034438" y="226831"/>
                  </a:lnTo>
                  <a:lnTo>
                    <a:pt x="4065762" y="205724"/>
                  </a:lnTo>
                  <a:lnTo>
                    <a:pt x="4086869" y="174400"/>
                  </a:lnTo>
                  <a:lnTo>
                    <a:pt x="4094607" y="136016"/>
                  </a:lnTo>
                  <a:lnTo>
                    <a:pt x="4094607" y="98551"/>
                  </a:lnTo>
                  <a:lnTo>
                    <a:pt x="4086869" y="60221"/>
                  </a:lnTo>
                  <a:lnTo>
                    <a:pt x="4065762" y="28892"/>
                  </a:lnTo>
                  <a:lnTo>
                    <a:pt x="4034438" y="7754"/>
                  </a:lnTo>
                  <a:lnTo>
                    <a:pt x="3996055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267832" y="5015611"/>
              <a:ext cx="4095115" cy="234950"/>
            </a:xfrm>
            <a:custGeom>
              <a:avLst/>
              <a:gdLst/>
              <a:ahLst/>
              <a:cxnLst/>
              <a:rect l="l" t="t" r="r" b="b"/>
              <a:pathLst>
                <a:path w="4095115" h="234950">
                  <a:moveTo>
                    <a:pt x="0" y="98551"/>
                  </a:moveTo>
                  <a:lnTo>
                    <a:pt x="7737" y="60221"/>
                  </a:lnTo>
                  <a:lnTo>
                    <a:pt x="28844" y="28892"/>
                  </a:lnTo>
                  <a:lnTo>
                    <a:pt x="60168" y="7754"/>
                  </a:lnTo>
                  <a:lnTo>
                    <a:pt x="98551" y="0"/>
                  </a:lnTo>
                  <a:lnTo>
                    <a:pt x="3996055" y="0"/>
                  </a:lnTo>
                  <a:lnTo>
                    <a:pt x="4034438" y="7754"/>
                  </a:lnTo>
                  <a:lnTo>
                    <a:pt x="4065762" y="28892"/>
                  </a:lnTo>
                  <a:lnTo>
                    <a:pt x="4086869" y="60221"/>
                  </a:lnTo>
                  <a:lnTo>
                    <a:pt x="4094607" y="98551"/>
                  </a:lnTo>
                  <a:lnTo>
                    <a:pt x="4094607" y="136016"/>
                  </a:lnTo>
                  <a:lnTo>
                    <a:pt x="4086869" y="174400"/>
                  </a:lnTo>
                  <a:lnTo>
                    <a:pt x="4065762" y="205724"/>
                  </a:lnTo>
                  <a:lnTo>
                    <a:pt x="4034438" y="226831"/>
                  </a:lnTo>
                  <a:lnTo>
                    <a:pt x="3996055" y="234569"/>
                  </a:lnTo>
                  <a:lnTo>
                    <a:pt x="98551" y="234569"/>
                  </a:lnTo>
                  <a:lnTo>
                    <a:pt x="60168" y="226831"/>
                  </a:lnTo>
                  <a:lnTo>
                    <a:pt x="28844" y="205724"/>
                  </a:lnTo>
                  <a:lnTo>
                    <a:pt x="7737" y="174400"/>
                  </a:lnTo>
                  <a:lnTo>
                    <a:pt x="0" y="136016"/>
                  </a:lnTo>
                  <a:lnTo>
                    <a:pt x="0" y="98551"/>
                  </a:lnTo>
                  <a:close/>
                </a:path>
              </a:pathLst>
            </a:custGeom>
            <a:ln w="762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255514" y="5573344"/>
            <a:ext cx="1799589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170" dirty="0">
                <a:solidFill>
                  <a:srgbClr val="E1E6E9"/>
                </a:solidFill>
                <a:latin typeface="Cambria"/>
                <a:cs typeface="Cambria"/>
              </a:rPr>
              <a:t>Significance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28820" y="6466713"/>
            <a:ext cx="505714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significant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advancement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intersection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artificial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intelligence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sports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analytics.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Its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ability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interpret,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summarize,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evaluate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complex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in-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game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scenarios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mirrors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depth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human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expertise,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while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offering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unmatched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scalability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speed.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710673" y="4659884"/>
            <a:ext cx="4102735" cy="242570"/>
            <a:chOff x="9710673" y="4659884"/>
            <a:chExt cx="4102735" cy="242570"/>
          </a:xfrm>
        </p:grpSpPr>
        <p:sp>
          <p:nvSpPr>
            <p:cNvPr id="15" name="object 15"/>
            <p:cNvSpPr/>
            <p:nvPr/>
          </p:nvSpPr>
          <p:spPr>
            <a:xfrm>
              <a:off x="9714483" y="4663694"/>
              <a:ext cx="4095115" cy="234950"/>
            </a:xfrm>
            <a:custGeom>
              <a:avLst/>
              <a:gdLst/>
              <a:ahLst/>
              <a:cxnLst/>
              <a:rect l="l" t="t" r="r" b="b"/>
              <a:pathLst>
                <a:path w="4095115" h="234950">
                  <a:moveTo>
                    <a:pt x="3996054" y="0"/>
                  </a:moveTo>
                  <a:lnTo>
                    <a:pt x="98551" y="0"/>
                  </a:lnTo>
                  <a:lnTo>
                    <a:pt x="60168" y="7737"/>
                  </a:lnTo>
                  <a:lnTo>
                    <a:pt x="28844" y="28844"/>
                  </a:lnTo>
                  <a:lnTo>
                    <a:pt x="7737" y="60168"/>
                  </a:lnTo>
                  <a:lnTo>
                    <a:pt x="0" y="98551"/>
                  </a:lnTo>
                  <a:lnTo>
                    <a:pt x="0" y="136016"/>
                  </a:lnTo>
                  <a:lnTo>
                    <a:pt x="7737" y="174347"/>
                  </a:lnTo>
                  <a:lnTo>
                    <a:pt x="28844" y="205676"/>
                  </a:lnTo>
                  <a:lnTo>
                    <a:pt x="60168" y="226814"/>
                  </a:lnTo>
                  <a:lnTo>
                    <a:pt x="98551" y="234568"/>
                  </a:lnTo>
                  <a:lnTo>
                    <a:pt x="3996054" y="234568"/>
                  </a:lnTo>
                  <a:lnTo>
                    <a:pt x="4034438" y="226814"/>
                  </a:lnTo>
                  <a:lnTo>
                    <a:pt x="4065762" y="205676"/>
                  </a:lnTo>
                  <a:lnTo>
                    <a:pt x="4086869" y="174347"/>
                  </a:lnTo>
                  <a:lnTo>
                    <a:pt x="4094606" y="136016"/>
                  </a:lnTo>
                  <a:lnTo>
                    <a:pt x="4094606" y="98551"/>
                  </a:lnTo>
                  <a:lnTo>
                    <a:pt x="4086869" y="60168"/>
                  </a:lnTo>
                  <a:lnTo>
                    <a:pt x="4065762" y="28844"/>
                  </a:lnTo>
                  <a:lnTo>
                    <a:pt x="4034438" y="7737"/>
                  </a:lnTo>
                  <a:lnTo>
                    <a:pt x="3996054" y="0"/>
                  </a:lnTo>
                  <a:close/>
                </a:path>
              </a:pathLst>
            </a:custGeom>
            <a:solidFill>
              <a:srgbClr val="003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714483" y="4663694"/>
              <a:ext cx="4095115" cy="234950"/>
            </a:xfrm>
            <a:custGeom>
              <a:avLst/>
              <a:gdLst/>
              <a:ahLst/>
              <a:cxnLst/>
              <a:rect l="l" t="t" r="r" b="b"/>
              <a:pathLst>
                <a:path w="4095115" h="234950">
                  <a:moveTo>
                    <a:pt x="0" y="98551"/>
                  </a:moveTo>
                  <a:lnTo>
                    <a:pt x="7737" y="60168"/>
                  </a:lnTo>
                  <a:lnTo>
                    <a:pt x="28844" y="28844"/>
                  </a:lnTo>
                  <a:lnTo>
                    <a:pt x="60168" y="7737"/>
                  </a:lnTo>
                  <a:lnTo>
                    <a:pt x="98551" y="0"/>
                  </a:lnTo>
                  <a:lnTo>
                    <a:pt x="3996054" y="0"/>
                  </a:lnTo>
                  <a:lnTo>
                    <a:pt x="4034438" y="7737"/>
                  </a:lnTo>
                  <a:lnTo>
                    <a:pt x="4065762" y="28844"/>
                  </a:lnTo>
                  <a:lnTo>
                    <a:pt x="4086869" y="60168"/>
                  </a:lnTo>
                  <a:lnTo>
                    <a:pt x="4094606" y="98551"/>
                  </a:lnTo>
                  <a:lnTo>
                    <a:pt x="4094606" y="136016"/>
                  </a:lnTo>
                  <a:lnTo>
                    <a:pt x="4086869" y="174347"/>
                  </a:lnTo>
                  <a:lnTo>
                    <a:pt x="4065762" y="205676"/>
                  </a:lnTo>
                  <a:lnTo>
                    <a:pt x="4034438" y="226814"/>
                  </a:lnTo>
                  <a:lnTo>
                    <a:pt x="3996054" y="234568"/>
                  </a:lnTo>
                  <a:lnTo>
                    <a:pt x="98551" y="234568"/>
                  </a:lnTo>
                  <a:lnTo>
                    <a:pt x="60168" y="226814"/>
                  </a:lnTo>
                  <a:lnTo>
                    <a:pt x="28844" y="205676"/>
                  </a:lnTo>
                  <a:lnTo>
                    <a:pt x="7737" y="174347"/>
                  </a:lnTo>
                  <a:lnTo>
                    <a:pt x="0" y="136016"/>
                  </a:lnTo>
                  <a:lnTo>
                    <a:pt x="0" y="98551"/>
                  </a:lnTo>
                  <a:close/>
                </a:path>
              </a:pathLst>
            </a:custGeom>
            <a:ln w="7620">
              <a:solidFill>
                <a:srgbClr val="18499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702800" y="5018585"/>
            <a:ext cx="4392930" cy="1012190"/>
          </a:xfrm>
          <a:prstGeom prst="rect">
            <a:avLst/>
          </a:prstGeom>
        </p:spPr>
        <p:txBody>
          <a:bodyPr vert="horz" wrap="square" lIns="0" tIns="215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2300" spc="190" dirty="0">
                <a:solidFill>
                  <a:srgbClr val="E1E6E9"/>
                </a:solidFill>
                <a:latin typeface="Cambria"/>
                <a:cs typeface="Cambria"/>
              </a:rPr>
              <a:t>Impact</a:t>
            </a:r>
            <a:endParaRPr sz="23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25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football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delivers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substantial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03420" y="6005321"/>
            <a:ext cx="9486265" cy="487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212080">
              <a:lnSpc>
                <a:spcPts val="1814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impact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across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football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ecosystem,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ts val="1814"/>
              </a:lnSpc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development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this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football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analysis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marks</a:t>
            </a:r>
            <a:r>
              <a:rPr sz="1800" spc="3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5" baseline="-21604" dirty="0">
                <a:solidFill>
                  <a:srgbClr val="FFFFFF"/>
                </a:solidFill>
                <a:latin typeface="Calibri"/>
                <a:cs typeface="Calibri"/>
              </a:rPr>
              <a:t>transforming</a:t>
            </a:r>
            <a:r>
              <a:rPr sz="2700" spc="-60" baseline="-216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baseline="-21604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2700" spc="-37" baseline="-216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baseline="-21604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2700" spc="-60" baseline="-216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baseline="-21604" dirty="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sz="2700" spc="-60" baseline="-216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5" baseline="-21604" dirty="0">
                <a:solidFill>
                  <a:srgbClr val="FFFFFF"/>
                </a:solidFill>
                <a:latin typeface="Calibri"/>
                <a:cs typeface="Calibri"/>
              </a:rPr>
              <a:t>interpreted,</a:t>
            </a:r>
            <a:r>
              <a:rPr sz="2700" spc="-7" baseline="-2160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700" spc="-15" baseline="-21604" dirty="0">
                <a:solidFill>
                  <a:srgbClr val="FFFFFF"/>
                </a:solidFill>
                <a:latin typeface="Calibri"/>
                <a:cs typeface="Calibri"/>
              </a:rPr>
              <a:t>insights</a:t>
            </a:r>
            <a:endParaRPr sz="2700" baseline="-21604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702800" y="6553961"/>
            <a:ext cx="36226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generated,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decisions</a:t>
            </a:r>
            <a:r>
              <a:rPr sz="18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8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made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1103" y="3681806"/>
            <a:ext cx="3288665" cy="765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50" spc="445" dirty="0"/>
              <a:t>Thank</a:t>
            </a:r>
            <a:r>
              <a:rPr sz="4850" spc="90" dirty="0"/>
              <a:t> </a:t>
            </a:r>
            <a:r>
              <a:rPr sz="4850" spc="345" dirty="0"/>
              <a:t>You</a:t>
            </a:r>
            <a:endParaRPr sz="48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F9D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632</Words>
  <Application>Microsoft Office PowerPoint</Application>
  <PresentationFormat>Custom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Cambria</vt:lpstr>
      <vt:lpstr>Office Theme</vt:lpstr>
      <vt:lpstr>Automated Football Action Detection</vt:lpstr>
      <vt:lpstr>Motivation: Automating Football Analysis</vt:lpstr>
      <vt:lpstr>Literature Review: Advancements in Detection</vt:lpstr>
      <vt:lpstr>Methodology Formulation: Our Approach</vt:lpstr>
      <vt:lpstr>Results: Dataset Composition</vt:lpstr>
      <vt:lpstr>Results: Performance Metrics</vt:lpstr>
      <vt:lpstr>Visual Results: Example Detections</vt:lpstr>
      <vt:lpstr>Future Work: Enhancements and Applications</vt:lpstr>
      <vt:lpstr>Conclusion: Key Contributions and Impact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Raghav singhal</cp:lastModifiedBy>
  <cp:revision>1</cp:revision>
  <dcterms:created xsi:type="dcterms:W3CDTF">2025-04-22T17:57:55Z</dcterms:created>
  <dcterms:modified xsi:type="dcterms:W3CDTF">2025-04-22T18:02:16Z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2025-04-20T00:00:00Z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2025-04-22T00:00:00Z</vt:filetime>
  </property>
  <property fmtid="{D5CDD505-2E9C-101B-9397-08002B2CF9AE}" pid="5" name="Producer">
    <vt:lpwstr>Microsoft® PowerPoint® 2021</vt:lpwstr>
  </property>
</Properties>
</file>